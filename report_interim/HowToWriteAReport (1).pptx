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60" r:id="rId3"/>
    <p:sldId id="290" r:id="rId4"/>
    <p:sldId id="257" r:id="rId5"/>
    <p:sldId id="278" r:id="rId6"/>
    <p:sldId id="280" r:id="rId7"/>
    <p:sldId id="258" r:id="rId8"/>
    <p:sldId id="259" r:id="rId9"/>
    <p:sldId id="279" r:id="rId10"/>
    <p:sldId id="261" r:id="rId11"/>
    <p:sldId id="263" r:id="rId12"/>
    <p:sldId id="264" r:id="rId13"/>
    <p:sldId id="265" r:id="rId14"/>
    <p:sldId id="268" r:id="rId15"/>
    <p:sldId id="283" r:id="rId16"/>
    <p:sldId id="284" r:id="rId17"/>
    <p:sldId id="285" r:id="rId18"/>
    <p:sldId id="282" r:id="rId19"/>
    <p:sldId id="267" r:id="rId20"/>
    <p:sldId id="281" r:id="rId21"/>
    <p:sldId id="286" r:id="rId22"/>
    <p:sldId id="262" r:id="rId23"/>
    <p:sldId id="287" r:id="rId24"/>
    <p:sldId id="269" r:id="rId25"/>
    <p:sldId id="270" r:id="rId26"/>
    <p:sldId id="288" r:id="rId27"/>
    <p:sldId id="271" r:id="rId28"/>
    <p:sldId id="272" r:id="rId29"/>
    <p:sldId id="274" r:id="rId30"/>
    <p:sldId id="273" r:id="rId31"/>
    <p:sldId id="275" r:id="rId32"/>
    <p:sldId id="266" r:id="rId33"/>
    <p:sldId id="276" r:id="rId34"/>
    <p:sldId id="277" r:id="rId35"/>
    <p:sldId id="28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61"/>
    <p:restoredTop sz="94795"/>
  </p:normalViewPr>
  <p:slideViewPr>
    <p:cSldViewPr snapToGrid="0">
      <p:cViewPr varScale="1">
        <p:scale>
          <a:sx n="120" d="100"/>
          <a:sy n="120" d="100"/>
        </p:scale>
        <p:origin x="54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1CA019-13EE-D048-96AB-9C12DD51178F}" type="datetimeFigureOut">
              <a:rPr lang="en-US" smtClean="0"/>
              <a:t>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C80BDF-7E4B-9A4D-8541-657B583A835F}" type="slidenum">
              <a:rPr lang="en-US" smtClean="0"/>
              <a:t>‹#›</a:t>
            </a:fld>
            <a:endParaRPr lang="en-US"/>
          </a:p>
        </p:txBody>
      </p:sp>
    </p:spTree>
    <p:extLst>
      <p:ext uri="{BB962C8B-B14F-4D97-AF65-F5344CB8AC3E}">
        <p14:creationId xmlns:p14="http://schemas.microsoft.com/office/powerpoint/2010/main" val="3982087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C80BDF-7E4B-9A4D-8541-657B583A835F}" type="slidenum">
              <a:rPr lang="en-US" smtClean="0"/>
              <a:t>11</a:t>
            </a:fld>
            <a:endParaRPr lang="en-US"/>
          </a:p>
        </p:txBody>
      </p:sp>
    </p:spTree>
    <p:extLst>
      <p:ext uri="{BB962C8B-B14F-4D97-AF65-F5344CB8AC3E}">
        <p14:creationId xmlns:p14="http://schemas.microsoft.com/office/powerpoint/2010/main" val="2713425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41D0-9488-50CD-514A-A28CC6A0470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80FDBFF-7E67-2191-3FB9-4A226A08E3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44EA524-2C95-2C56-7D81-95F771C93917}"/>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5" name="Footer Placeholder 4">
            <a:extLst>
              <a:ext uri="{FF2B5EF4-FFF2-40B4-BE49-F238E27FC236}">
                <a16:creationId xmlns:a16="http://schemas.microsoft.com/office/drawing/2014/main" id="{111F7D04-6F2B-1984-4CB4-030664E8AD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A7E48-439D-0B63-DC14-2E2F171DFF94}"/>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3339175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7D102-4BEA-2E11-35D3-B2205B2399E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C077C18-33B1-F772-1831-9C3A8650215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0233171-AB98-AF24-5784-4B862CA0FA65}"/>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5" name="Footer Placeholder 4">
            <a:extLst>
              <a:ext uri="{FF2B5EF4-FFF2-40B4-BE49-F238E27FC236}">
                <a16:creationId xmlns:a16="http://schemas.microsoft.com/office/drawing/2014/main" id="{FC24B10D-E84A-4065-E120-06733A90B6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154725-1496-4E75-858D-1A96265E0423}"/>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975801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A158A-C5A9-37C8-56C9-04B77C40DEA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FD82B1A-7C88-86DC-437E-0EFA5D2F83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D6E7F75-6A92-2EEC-51BB-BD04954C6E03}"/>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5" name="Footer Placeholder 4">
            <a:extLst>
              <a:ext uri="{FF2B5EF4-FFF2-40B4-BE49-F238E27FC236}">
                <a16:creationId xmlns:a16="http://schemas.microsoft.com/office/drawing/2014/main" id="{824ED0D1-5BC5-F844-F568-97CB542AE1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749C66-C85C-C067-C5BC-D11FD1C4128F}"/>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963819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6B314-8D49-D6D5-2A79-1B8343683A9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64FCA22-18DC-D2B2-BF5F-2B1F28C9490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0B24C74-6EE7-2B0C-5A1C-A7292DEA438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95127A4-6DC7-CAEB-9222-6EA308319A20}"/>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6" name="Footer Placeholder 5">
            <a:extLst>
              <a:ext uri="{FF2B5EF4-FFF2-40B4-BE49-F238E27FC236}">
                <a16:creationId xmlns:a16="http://schemas.microsoft.com/office/drawing/2014/main" id="{6D9F4A60-1E3A-32CD-499F-A52C02A10F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BCB48E-2B7C-0BED-BAF9-8EF46F52C763}"/>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4195009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F2D50-94FE-D037-A767-B80873E66B7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C26AFDA-2DDF-9818-95C8-9E77E4C43A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EB3E602-7BAB-C8B6-67A1-79E92585A74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CF26468-2F1E-DDF4-D0FA-6491B456F4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4C3A11B-3AD1-44F1-50A7-6C210E2E4F6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08F43CC-A1C4-1510-2631-C9AF0341E032}"/>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8" name="Footer Placeholder 7">
            <a:extLst>
              <a:ext uri="{FF2B5EF4-FFF2-40B4-BE49-F238E27FC236}">
                <a16:creationId xmlns:a16="http://schemas.microsoft.com/office/drawing/2014/main" id="{55699FE0-A1FF-4F22-ADAD-902EF946C9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FCD3C1-FEE2-2821-55E7-F4FCA2D25051}"/>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506405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87A13-0CA5-0F39-672B-96E11AA0199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C1F1EBF-490C-946C-0216-FA037E57DA7E}"/>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4" name="Footer Placeholder 3">
            <a:extLst>
              <a:ext uri="{FF2B5EF4-FFF2-40B4-BE49-F238E27FC236}">
                <a16:creationId xmlns:a16="http://schemas.microsoft.com/office/drawing/2014/main" id="{4F15DBE6-1023-97C3-B674-A8CCC8CEB8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EFBA1C-AC72-F800-23D6-55BB44BA0D0D}"/>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3377499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1587F1-9868-7473-E14E-E3938A2D2CBA}"/>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3" name="Footer Placeholder 2">
            <a:extLst>
              <a:ext uri="{FF2B5EF4-FFF2-40B4-BE49-F238E27FC236}">
                <a16:creationId xmlns:a16="http://schemas.microsoft.com/office/drawing/2014/main" id="{99B02F55-6BD9-5FC8-04E4-2C44AB3096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3D4B40-1F62-0B9B-8374-7CC4593F73BA}"/>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2515691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1E64-32F2-9639-B9DD-CFA14339816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95277B7-D53B-A4E3-D067-CF3D38C4A3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73038B7-0E84-E142-E034-4448625DC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3B23076-BA42-E4E2-529C-73D1599AAEC4}"/>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6" name="Footer Placeholder 5">
            <a:extLst>
              <a:ext uri="{FF2B5EF4-FFF2-40B4-BE49-F238E27FC236}">
                <a16:creationId xmlns:a16="http://schemas.microsoft.com/office/drawing/2014/main" id="{D14DDACE-D5E4-520B-1354-60C50E261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A6F501-698A-814F-B4CC-BEE5F81D1143}"/>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1307489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F563E-7751-80D5-2EC0-84B61B8B105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AFA4290-A3B8-59B8-E980-B573C59A64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4007DC-B52E-ABD7-E32E-E9A5F92B12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472ACCF-1C6F-A48D-D2D4-A354F54BB8CB}"/>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6" name="Footer Placeholder 5">
            <a:extLst>
              <a:ext uri="{FF2B5EF4-FFF2-40B4-BE49-F238E27FC236}">
                <a16:creationId xmlns:a16="http://schemas.microsoft.com/office/drawing/2014/main" id="{382DF32A-CD38-6F74-0B51-2EACF61848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8D7D9-00C7-E55E-E08B-01230803670E}"/>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1032628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FD0B1-F1E5-12F0-3B84-F9CEF64D5F6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07D01C4-489D-E910-713D-F0BFF11200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EAE303C-443D-EB2B-8190-A7250D1CC187}"/>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5" name="Footer Placeholder 4">
            <a:extLst>
              <a:ext uri="{FF2B5EF4-FFF2-40B4-BE49-F238E27FC236}">
                <a16:creationId xmlns:a16="http://schemas.microsoft.com/office/drawing/2014/main" id="{E5287E14-121D-D09D-4B60-85ABACE937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8474E4-F8DE-CF92-388D-F5BB1EC7C09A}"/>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975053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481E3F-D68D-3811-7976-4D149C590FA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2DC3FA7-9CB0-B272-CBDB-B412C8D7EF1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A499724-6308-4855-A281-6CE21ED08777}"/>
              </a:ext>
            </a:extLst>
          </p:cNvPr>
          <p:cNvSpPr>
            <a:spLocks noGrp="1"/>
          </p:cNvSpPr>
          <p:nvPr>
            <p:ph type="dt" sz="half" idx="10"/>
          </p:nvPr>
        </p:nvSpPr>
        <p:spPr/>
        <p:txBody>
          <a:bodyPr/>
          <a:lstStyle/>
          <a:p>
            <a:fld id="{4D5C6644-E5FC-6046-99E4-B42BFF708291}" type="datetimeFigureOut">
              <a:rPr lang="en-US" smtClean="0"/>
              <a:t>11/3/25</a:t>
            </a:fld>
            <a:endParaRPr lang="en-US"/>
          </a:p>
        </p:txBody>
      </p:sp>
      <p:sp>
        <p:nvSpPr>
          <p:cNvPr id="5" name="Footer Placeholder 4">
            <a:extLst>
              <a:ext uri="{FF2B5EF4-FFF2-40B4-BE49-F238E27FC236}">
                <a16:creationId xmlns:a16="http://schemas.microsoft.com/office/drawing/2014/main" id="{1488DF92-989E-66D1-9F5D-438186186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BEC563-0A6B-330A-AF34-335AF10B6DF0}"/>
              </a:ext>
            </a:extLst>
          </p:cNvPr>
          <p:cNvSpPr>
            <a:spLocks noGrp="1"/>
          </p:cNvSpPr>
          <p:nvPr>
            <p:ph type="sldNum" sz="quarter" idx="12"/>
          </p:nvPr>
        </p:nvSpPr>
        <p:spPr/>
        <p:txBody>
          <a:bodyPr/>
          <a:lstStyle/>
          <a:p>
            <a:fld id="{B93BD9E4-E7FF-6B4B-8A00-3A0EEFE071A9}" type="slidenum">
              <a:rPr lang="en-US" smtClean="0"/>
              <a:t>‹#›</a:t>
            </a:fld>
            <a:endParaRPr lang="en-US"/>
          </a:p>
        </p:txBody>
      </p:sp>
    </p:spTree>
    <p:extLst>
      <p:ext uri="{BB962C8B-B14F-4D97-AF65-F5344CB8AC3E}">
        <p14:creationId xmlns:p14="http://schemas.microsoft.com/office/powerpoint/2010/main" val="96047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ABF0EA-F306-CB8D-F3FD-A851B9DA51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DCD052B-E710-7407-C784-AAED0E0138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C77ABD4-9B18-D966-54FB-DAE3BAE832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D5C6644-E5FC-6046-99E4-B42BFF708291}" type="datetimeFigureOut">
              <a:rPr lang="en-US" smtClean="0"/>
              <a:t>11/3/25</a:t>
            </a:fld>
            <a:endParaRPr lang="en-US"/>
          </a:p>
        </p:txBody>
      </p:sp>
      <p:sp>
        <p:nvSpPr>
          <p:cNvPr id="5" name="Footer Placeholder 4">
            <a:extLst>
              <a:ext uri="{FF2B5EF4-FFF2-40B4-BE49-F238E27FC236}">
                <a16:creationId xmlns:a16="http://schemas.microsoft.com/office/drawing/2014/main" id="{AFD47890-17E0-40B0-F8F7-55A66AF68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856911F-AAB0-3EDD-46DF-6612944394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3BD9E4-E7FF-6B4B-8A00-3A0EEFE071A9}" type="slidenum">
              <a:rPr lang="en-US" smtClean="0"/>
              <a:t>‹#›</a:t>
            </a:fld>
            <a:endParaRPr lang="en-US"/>
          </a:p>
        </p:txBody>
      </p:sp>
    </p:spTree>
    <p:extLst>
      <p:ext uri="{BB962C8B-B14F-4D97-AF65-F5344CB8AC3E}">
        <p14:creationId xmlns:p14="http://schemas.microsoft.com/office/powerpoint/2010/main" val="1735052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orwellfoundation.com/the-orwell-foundation/orwell/essays-and-other-works/politics-and-the-english-language/"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D6737-3783-D4B3-2421-8D514E6DC8D2}"/>
              </a:ext>
            </a:extLst>
          </p:cNvPr>
          <p:cNvSpPr>
            <a:spLocks noGrp="1"/>
          </p:cNvSpPr>
          <p:nvPr>
            <p:ph type="ctrTitle"/>
          </p:nvPr>
        </p:nvSpPr>
        <p:spPr/>
        <p:txBody>
          <a:bodyPr/>
          <a:lstStyle/>
          <a:p>
            <a:r>
              <a:rPr lang="en-US" dirty="0"/>
              <a:t>Writing a project report</a:t>
            </a:r>
          </a:p>
        </p:txBody>
      </p:sp>
      <p:sp>
        <p:nvSpPr>
          <p:cNvPr id="3" name="Subtitle 2">
            <a:extLst>
              <a:ext uri="{FF2B5EF4-FFF2-40B4-BE49-F238E27FC236}">
                <a16:creationId xmlns:a16="http://schemas.microsoft.com/office/drawing/2014/main" id="{C4FF81D2-FC4A-392A-9078-B992DFA04FFE}"/>
              </a:ext>
            </a:extLst>
          </p:cNvPr>
          <p:cNvSpPr>
            <a:spLocks noGrp="1"/>
          </p:cNvSpPr>
          <p:nvPr>
            <p:ph type="subTitle" idx="1"/>
          </p:nvPr>
        </p:nvSpPr>
        <p:spPr/>
        <p:txBody>
          <a:bodyPr/>
          <a:lstStyle/>
          <a:p>
            <a:endParaRPr lang="en-US" dirty="0"/>
          </a:p>
          <a:p>
            <a:endParaRPr lang="en-US" dirty="0"/>
          </a:p>
          <a:p>
            <a:r>
              <a:rPr lang="en-US" dirty="0"/>
              <a:t>Chris Watkins</a:t>
            </a:r>
          </a:p>
        </p:txBody>
      </p:sp>
    </p:spTree>
    <p:extLst>
      <p:ext uri="{BB962C8B-B14F-4D97-AF65-F5344CB8AC3E}">
        <p14:creationId xmlns:p14="http://schemas.microsoft.com/office/powerpoint/2010/main" val="2606016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7EBF68-620C-C67C-DC7D-0E2058FE61E7}"/>
              </a:ext>
            </a:extLst>
          </p:cNvPr>
          <p:cNvSpPr>
            <a:spLocks noGrp="1"/>
          </p:cNvSpPr>
          <p:nvPr>
            <p:ph idx="1"/>
          </p:nvPr>
        </p:nvSpPr>
        <p:spPr>
          <a:xfrm>
            <a:off x="649014" y="543363"/>
            <a:ext cx="10515600" cy="5647230"/>
          </a:xfrm>
        </p:spPr>
        <p:txBody>
          <a:bodyPr/>
          <a:lstStyle/>
          <a:p>
            <a:pPr marL="0" indent="0" algn="ctr">
              <a:buNone/>
            </a:pPr>
            <a:endParaRPr lang="en-US" dirty="0"/>
          </a:p>
          <a:p>
            <a:pPr marL="0" indent="0" algn="ctr">
              <a:buNone/>
            </a:pPr>
            <a:endParaRPr lang="en-US" dirty="0"/>
          </a:p>
          <a:p>
            <a:pPr marL="0" indent="0" algn="ctr">
              <a:buNone/>
            </a:pPr>
            <a:r>
              <a:rPr lang="en-US" sz="4000" dirty="0"/>
              <a:t>Writing Large</a:t>
            </a:r>
          </a:p>
          <a:p>
            <a:pPr marL="0" indent="0" algn="ctr">
              <a:buNone/>
            </a:pPr>
            <a:endParaRPr lang="en-US" dirty="0"/>
          </a:p>
          <a:p>
            <a:pPr marL="0" indent="0" algn="ctr">
              <a:buNone/>
            </a:pPr>
            <a:endParaRPr lang="en-US" dirty="0"/>
          </a:p>
          <a:p>
            <a:pPr marL="0" indent="0" algn="ctr">
              <a:buNone/>
            </a:pPr>
            <a:r>
              <a:rPr lang="en-US" sz="2400" dirty="0"/>
              <a:t>Writing Medium </a:t>
            </a:r>
          </a:p>
          <a:p>
            <a:pPr marL="0" indent="0" algn="ctr">
              <a:buNone/>
            </a:pPr>
            <a:endParaRPr lang="en-US" sz="2400" dirty="0"/>
          </a:p>
          <a:p>
            <a:pPr marL="0" indent="0" algn="ctr">
              <a:buNone/>
            </a:pPr>
            <a:endParaRPr lang="en-US" sz="2400" dirty="0"/>
          </a:p>
          <a:p>
            <a:pPr marL="0" indent="0" algn="ctr">
              <a:buNone/>
            </a:pPr>
            <a:r>
              <a:rPr lang="en-US" sz="2400" dirty="0"/>
              <a:t>Writing Small</a:t>
            </a:r>
          </a:p>
        </p:txBody>
      </p:sp>
    </p:spTree>
    <p:extLst>
      <p:ext uri="{BB962C8B-B14F-4D97-AF65-F5344CB8AC3E}">
        <p14:creationId xmlns:p14="http://schemas.microsoft.com/office/powerpoint/2010/main" val="1665838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9EE02-B656-EE64-4B64-33E0A1A251B8}"/>
              </a:ext>
            </a:extLst>
          </p:cNvPr>
          <p:cNvSpPr>
            <a:spLocks noGrp="1"/>
          </p:cNvSpPr>
          <p:nvPr>
            <p:ph type="title"/>
          </p:nvPr>
        </p:nvSpPr>
        <p:spPr/>
        <p:txBody>
          <a:bodyPr/>
          <a:lstStyle/>
          <a:p>
            <a:r>
              <a:rPr lang="en-US" dirty="0"/>
              <a:t>Why write?  Writing is thinking</a:t>
            </a:r>
          </a:p>
        </p:txBody>
      </p:sp>
      <p:sp>
        <p:nvSpPr>
          <p:cNvPr id="3" name="Content Placeholder 2">
            <a:extLst>
              <a:ext uri="{FF2B5EF4-FFF2-40B4-BE49-F238E27FC236}">
                <a16:creationId xmlns:a16="http://schemas.microsoft.com/office/drawing/2014/main" id="{D3E1302B-7718-0953-E2F4-870D465A82F3}"/>
              </a:ext>
            </a:extLst>
          </p:cNvPr>
          <p:cNvSpPr>
            <a:spLocks noGrp="1"/>
          </p:cNvSpPr>
          <p:nvPr>
            <p:ph idx="1"/>
          </p:nvPr>
        </p:nvSpPr>
        <p:spPr/>
        <p:txBody>
          <a:bodyPr>
            <a:normAutofit fontScale="92500" lnSpcReduction="20000"/>
          </a:bodyPr>
          <a:lstStyle/>
          <a:p>
            <a:pPr marL="0" indent="0">
              <a:buNone/>
            </a:pPr>
            <a:r>
              <a:rPr lang="en-US" dirty="0"/>
              <a:t>Writing is how we get our thoughts in order</a:t>
            </a:r>
          </a:p>
          <a:p>
            <a:pPr marL="0" indent="0">
              <a:buNone/>
            </a:pPr>
            <a:r>
              <a:rPr lang="en-US" dirty="0"/>
              <a:t>Writing is how we find out what we think</a:t>
            </a:r>
          </a:p>
          <a:p>
            <a:pPr marL="0" indent="0">
              <a:buNone/>
            </a:pPr>
            <a:r>
              <a:rPr lang="en-US" dirty="0"/>
              <a:t>You don’t know what you’ve thought until you write it down</a:t>
            </a:r>
          </a:p>
          <a:p>
            <a:pPr marL="0" indent="0">
              <a:buNone/>
            </a:pPr>
            <a:endParaRPr lang="en-US" dirty="0"/>
          </a:p>
          <a:p>
            <a:pPr marL="0" indent="0">
              <a:buNone/>
            </a:pPr>
            <a:r>
              <a:rPr lang="en-US" dirty="0"/>
              <a:t>If you give a short prompt to an LLM, you cannot tell it everything that you need to think to think about. </a:t>
            </a:r>
          </a:p>
          <a:p>
            <a:pPr marL="0" indent="0">
              <a:buNone/>
            </a:pPr>
            <a:r>
              <a:rPr lang="en-US" dirty="0"/>
              <a:t>It produces something that looks polished, but is pompous, often empty, and not quite what you wanted to say. </a:t>
            </a:r>
          </a:p>
          <a:p>
            <a:pPr marL="0" indent="0">
              <a:buNone/>
            </a:pPr>
            <a:endParaRPr lang="en-US" dirty="0"/>
          </a:p>
          <a:p>
            <a:pPr marL="0" indent="0">
              <a:buNone/>
            </a:pPr>
            <a:r>
              <a:rPr lang="en-US" dirty="0"/>
              <a:t>Writing is better in your own words, in your own voice. You just need to get everything clear and in the right order. </a:t>
            </a:r>
          </a:p>
          <a:p>
            <a:pPr marL="0" indent="0">
              <a:buNone/>
            </a:pPr>
            <a:endParaRPr lang="en-US" dirty="0"/>
          </a:p>
        </p:txBody>
      </p:sp>
    </p:spTree>
    <p:extLst>
      <p:ext uri="{BB962C8B-B14F-4D97-AF65-F5344CB8AC3E}">
        <p14:creationId xmlns:p14="http://schemas.microsoft.com/office/powerpoint/2010/main" val="806203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5864A-2EEF-95F8-E05F-F337541ECD05}"/>
              </a:ext>
            </a:extLst>
          </p:cNvPr>
          <p:cNvSpPr>
            <a:spLocks noGrp="1"/>
          </p:cNvSpPr>
          <p:nvPr>
            <p:ph type="title"/>
          </p:nvPr>
        </p:nvSpPr>
        <p:spPr/>
        <p:txBody>
          <a:bodyPr/>
          <a:lstStyle/>
          <a:p>
            <a:r>
              <a:rPr lang="en-US" dirty="0"/>
              <a:t>Always write a story. Your project report is your story.</a:t>
            </a:r>
          </a:p>
        </p:txBody>
      </p:sp>
      <p:sp>
        <p:nvSpPr>
          <p:cNvPr id="3" name="Content Placeholder 2">
            <a:extLst>
              <a:ext uri="{FF2B5EF4-FFF2-40B4-BE49-F238E27FC236}">
                <a16:creationId xmlns:a16="http://schemas.microsoft.com/office/drawing/2014/main" id="{8EF011B5-573A-1E78-4FFA-372BC7CF5599}"/>
              </a:ext>
            </a:extLst>
          </p:cNvPr>
          <p:cNvSpPr>
            <a:spLocks noGrp="1"/>
          </p:cNvSpPr>
          <p:nvPr>
            <p:ph idx="1"/>
          </p:nvPr>
        </p:nvSpPr>
        <p:spPr/>
        <p:txBody>
          <a:bodyPr>
            <a:normAutofit/>
          </a:bodyPr>
          <a:lstStyle/>
          <a:p>
            <a:pPr marL="0" indent="0">
              <a:buNone/>
            </a:pPr>
            <a:r>
              <a:rPr lang="en-US" dirty="0"/>
              <a:t>“I set out to learn about … / develop an implementation of…”</a:t>
            </a:r>
          </a:p>
          <a:p>
            <a:pPr marL="0" indent="0">
              <a:buNone/>
            </a:pPr>
            <a:r>
              <a:rPr lang="en-US" dirty="0"/>
              <a:t>“This topic/application is interesting and important because…”</a:t>
            </a:r>
          </a:p>
          <a:p>
            <a:pPr marL="0" indent="0">
              <a:buNone/>
            </a:pPr>
            <a:r>
              <a:rPr lang="en-US" dirty="0"/>
              <a:t>“I did background research and I found these papers / I found this implementation that I decided to reimplement and vary”</a:t>
            </a:r>
          </a:p>
          <a:p>
            <a:pPr marL="0" indent="0">
              <a:buNone/>
            </a:pPr>
            <a:r>
              <a:rPr lang="en-US" dirty="0"/>
              <a:t>“This is what I did….and these are the difficulties I had…”</a:t>
            </a:r>
          </a:p>
          <a:p>
            <a:pPr marL="0" indent="0">
              <a:buNone/>
            </a:pPr>
            <a:r>
              <a:rPr lang="en-US" dirty="0"/>
              <a:t>“These are my results”</a:t>
            </a:r>
          </a:p>
          <a:p>
            <a:pPr marL="0" indent="0">
              <a:buNone/>
            </a:pPr>
            <a:r>
              <a:rPr lang="en-US" dirty="0"/>
              <a:t>“In my results, </a:t>
            </a:r>
            <a:r>
              <a:rPr lang="en-US" i="1" dirty="0"/>
              <a:t>this</a:t>
            </a:r>
            <a:r>
              <a:rPr lang="en-US" dirty="0"/>
              <a:t> was expected, </a:t>
            </a:r>
            <a:r>
              <a:rPr lang="en-US" i="1" dirty="0"/>
              <a:t>that </a:t>
            </a:r>
            <a:r>
              <a:rPr lang="en-US" dirty="0"/>
              <a:t>was surprising, but there is an interesting explanation, and </a:t>
            </a:r>
            <a:r>
              <a:rPr lang="en-US" i="1" dirty="0"/>
              <a:t>those</a:t>
            </a:r>
            <a:r>
              <a:rPr lang="en-US" dirty="0"/>
              <a:t> we cannot explain. </a:t>
            </a:r>
          </a:p>
          <a:p>
            <a:pPr marL="0" indent="0">
              <a:buNone/>
            </a:pPr>
            <a:r>
              <a:rPr lang="en-US" dirty="0"/>
              <a:t>My achievement is …  What I would do with more time is …</a:t>
            </a:r>
          </a:p>
        </p:txBody>
      </p:sp>
    </p:spTree>
    <p:extLst>
      <p:ext uri="{BB962C8B-B14F-4D97-AF65-F5344CB8AC3E}">
        <p14:creationId xmlns:p14="http://schemas.microsoft.com/office/powerpoint/2010/main" val="3940368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6F36E-E504-4CC8-A912-5CFEC626C569}"/>
              </a:ext>
            </a:extLst>
          </p:cNvPr>
          <p:cNvSpPr>
            <a:spLocks noGrp="1"/>
          </p:cNvSpPr>
          <p:nvPr>
            <p:ph type="title"/>
          </p:nvPr>
        </p:nvSpPr>
        <p:spPr/>
        <p:txBody>
          <a:bodyPr/>
          <a:lstStyle/>
          <a:p>
            <a:r>
              <a:rPr lang="en-US" dirty="0"/>
              <a:t>A report is like a travel book</a:t>
            </a:r>
          </a:p>
        </p:txBody>
      </p:sp>
      <p:sp>
        <p:nvSpPr>
          <p:cNvPr id="3" name="Content Placeholder 2">
            <a:extLst>
              <a:ext uri="{FF2B5EF4-FFF2-40B4-BE49-F238E27FC236}">
                <a16:creationId xmlns:a16="http://schemas.microsoft.com/office/drawing/2014/main" id="{FB433A07-C3FF-60AE-1888-37825A49D4E8}"/>
              </a:ext>
            </a:extLst>
          </p:cNvPr>
          <p:cNvSpPr>
            <a:spLocks noGrp="1"/>
          </p:cNvSpPr>
          <p:nvPr>
            <p:ph idx="1"/>
          </p:nvPr>
        </p:nvSpPr>
        <p:spPr/>
        <p:txBody>
          <a:bodyPr>
            <a:normAutofit fontScale="92500" lnSpcReduction="20000"/>
          </a:bodyPr>
          <a:lstStyle/>
          <a:p>
            <a:pPr marL="0" indent="0">
              <a:buNone/>
            </a:pPr>
            <a:r>
              <a:rPr lang="en-US" dirty="0"/>
              <a:t>You are describing a journey</a:t>
            </a:r>
          </a:p>
          <a:p>
            <a:pPr marL="0" indent="0">
              <a:buNone/>
            </a:pPr>
            <a:endParaRPr lang="en-US" dirty="0"/>
          </a:p>
          <a:p>
            <a:pPr marL="0" indent="0">
              <a:buNone/>
            </a:pPr>
            <a:r>
              <a:rPr lang="en-US" dirty="0"/>
              <a:t>But you describe it afterwards</a:t>
            </a:r>
          </a:p>
          <a:p>
            <a:pPr marL="0" indent="0">
              <a:buNone/>
            </a:pPr>
            <a:endParaRPr lang="en-US" dirty="0"/>
          </a:p>
          <a:p>
            <a:pPr marL="0" indent="0">
              <a:buNone/>
            </a:pPr>
            <a:r>
              <a:rPr lang="en-US" dirty="0"/>
              <a:t>Every journey starts with hope, with some imagined destination</a:t>
            </a:r>
          </a:p>
          <a:p>
            <a:pPr marL="0" indent="0">
              <a:buNone/>
            </a:pPr>
            <a:endParaRPr lang="en-US" dirty="0"/>
          </a:p>
          <a:p>
            <a:pPr marL="0" indent="0">
              <a:buNone/>
            </a:pPr>
            <a:r>
              <a:rPr lang="en-US" dirty="0"/>
              <a:t>You will get delayed, diverted, and maybe you never reach the destination</a:t>
            </a:r>
          </a:p>
          <a:p>
            <a:pPr marL="0" indent="0">
              <a:buNone/>
            </a:pPr>
            <a:endParaRPr lang="en-US" dirty="0"/>
          </a:p>
          <a:p>
            <a:pPr marL="0" indent="0">
              <a:buNone/>
            </a:pPr>
            <a:r>
              <a:rPr lang="en-US" dirty="0"/>
              <a:t>But you describe the places you visit, the problems and incidents that you had on the way. It’s still an interesting story. </a:t>
            </a:r>
          </a:p>
        </p:txBody>
      </p:sp>
    </p:spTree>
    <p:extLst>
      <p:ext uri="{BB962C8B-B14F-4D97-AF65-F5344CB8AC3E}">
        <p14:creationId xmlns:p14="http://schemas.microsoft.com/office/powerpoint/2010/main" val="1859685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019BA-3F1A-1F6C-4B3B-CEF58308BA9F}"/>
              </a:ext>
            </a:extLst>
          </p:cNvPr>
          <p:cNvSpPr>
            <a:spLocks noGrp="1"/>
          </p:cNvSpPr>
          <p:nvPr>
            <p:ph type="title"/>
          </p:nvPr>
        </p:nvSpPr>
        <p:spPr/>
        <p:txBody>
          <a:bodyPr/>
          <a:lstStyle/>
          <a:p>
            <a:r>
              <a:rPr lang="en-US" dirty="0"/>
              <a:t>Who is my reader?  </a:t>
            </a:r>
          </a:p>
        </p:txBody>
      </p:sp>
      <p:sp>
        <p:nvSpPr>
          <p:cNvPr id="3" name="Content Placeholder 2">
            <a:extLst>
              <a:ext uri="{FF2B5EF4-FFF2-40B4-BE49-F238E27FC236}">
                <a16:creationId xmlns:a16="http://schemas.microsoft.com/office/drawing/2014/main" id="{4508557E-09AC-5277-6F70-FB4CF95FE3F6}"/>
              </a:ext>
            </a:extLst>
          </p:cNvPr>
          <p:cNvSpPr>
            <a:spLocks noGrp="1"/>
          </p:cNvSpPr>
          <p:nvPr>
            <p:ph idx="1"/>
          </p:nvPr>
        </p:nvSpPr>
        <p:spPr/>
        <p:txBody>
          <a:bodyPr/>
          <a:lstStyle/>
          <a:p>
            <a:pPr marL="0" indent="0">
              <a:buNone/>
            </a:pPr>
            <a:r>
              <a:rPr lang="en-US" dirty="0"/>
              <a:t>The markers?   No, don’t talk to us! </a:t>
            </a:r>
          </a:p>
          <a:p>
            <a:pPr marL="0" indent="0">
              <a:buNone/>
            </a:pPr>
            <a:r>
              <a:rPr lang="en-US" dirty="0"/>
              <a:t>Pretend you are writing it for </a:t>
            </a:r>
            <a:r>
              <a:rPr lang="en-US" b="1" dirty="0"/>
              <a:t>the student who comes after you</a:t>
            </a:r>
            <a:r>
              <a:rPr lang="en-US" dirty="0"/>
              <a:t>. </a:t>
            </a:r>
          </a:p>
          <a:p>
            <a:pPr marL="0" indent="0">
              <a:buNone/>
            </a:pPr>
            <a:r>
              <a:rPr lang="en-US" dirty="0"/>
              <a:t>Tell them everything that it’s useful to know. Pretend they don’t understand your algorithms and explain them carefully, maybe with worked examples. </a:t>
            </a:r>
          </a:p>
          <a:p>
            <a:pPr marL="0" indent="0">
              <a:buNone/>
            </a:pPr>
            <a:r>
              <a:rPr lang="en-US" dirty="0"/>
              <a:t>Imagine that this student will understand everything you say, provided that you explain it clearly and in the right order. </a:t>
            </a:r>
          </a:p>
          <a:p>
            <a:pPr marL="0" indent="0">
              <a:buNone/>
            </a:pPr>
            <a:r>
              <a:rPr lang="en-US" dirty="0"/>
              <a:t>Let them know which bits were difficult, what problems you solved, and what you found out. </a:t>
            </a:r>
          </a:p>
          <a:p>
            <a:pPr marL="0" indent="0">
              <a:buNone/>
            </a:pPr>
            <a:endParaRPr lang="en-US" dirty="0"/>
          </a:p>
        </p:txBody>
      </p:sp>
    </p:spTree>
    <p:extLst>
      <p:ext uri="{BB962C8B-B14F-4D97-AF65-F5344CB8AC3E}">
        <p14:creationId xmlns:p14="http://schemas.microsoft.com/office/powerpoint/2010/main" val="1931931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DBED3-7843-FDFE-C1D1-DE1929B8D29F}"/>
              </a:ext>
            </a:extLst>
          </p:cNvPr>
          <p:cNvSpPr>
            <a:spLocks noGrp="1"/>
          </p:cNvSpPr>
          <p:nvPr>
            <p:ph type="title"/>
          </p:nvPr>
        </p:nvSpPr>
        <p:spPr/>
        <p:txBody>
          <a:bodyPr/>
          <a:lstStyle/>
          <a:p>
            <a:r>
              <a:rPr lang="en-US" dirty="0"/>
              <a:t>Selling your paper</a:t>
            </a:r>
          </a:p>
        </p:txBody>
      </p:sp>
      <p:sp>
        <p:nvSpPr>
          <p:cNvPr id="3" name="Content Placeholder 2">
            <a:extLst>
              <a:ext uri="{FF2B5EF4-FFF2-40B4-BE49-F238E27FC236}">
                <a16:creationId xmlns:a16="http://schemas.microsoft.com/office/drawing/2014/main" id="{8A54CBC4-8FAB-3DFA-27FC-4C4B5F8C774A}"/>
              </a:ext>
            </a:extLst>
          </p:cNvPr>
          <p:cNvSpPr>
            <a:spLocks noGrp="1"/>
          </p:cNvSpPr>
          <p:nvPr>
            <p:ph idx="1"/>
          </p:nvPr>
        </p:nvSpPr>
        <p:spPr/>
        <p:txBody>
          <a:bodyPr>
            <a:normAutofit lnSpcReduction="10000"/>
          </a:bodyPr>
          <a:lstStyle/>
          <a:p>
            <a:r>
              <a:rPr lang="en-US" dirty="0"/>
              <a:t>What is the right conference or journal? No point in sending it to the wrong one</a:t>
            </a:r>
            <a:br>
              <a:rPr lang="en-US" dirty="0"/>
            </a:br>
            <a:endParaRPr lang="en-US" dirty="0"/>
          </a:p>
          <a:p>
            <a:r>
              <a:rPr lang="en-US" dirty="0"/>
              <a:t>What are other papers like in that conference or journal?</a:t>
            </a:r>
          </a:p>
          <a:p>
            <a:pPr lvl="1"/>
            <a:r>
              <a:rPr lang="en-US" dirty="0"/>
              <a:t>What are the current interests of the field? Why? How does yours relate?</a:t>
            </a:r>
          </a:p>
          <a:p>
            <a:pPr lvl="1"/>
            <a:r>
              <a:rPr lang="en-US" dirty="0"/>
              <a:t>What will the readers be interested in?</a:t>
            </a:r>
          </a:p>
          <a:p>
            <a:pPr lvl="1"/>
            <a:r>
              <a:rPr lang="en-US" dirty="0"/>
              <a:t>How do other papers present their stories?</a:t>
            </a:r>
          </a:p>
          <a:p>
            <a:pPr lvl="1"/>
            <a:r>
              <a:rPr lang="en-US" dirty="0"/>
              <a:t>How do other papers present and discuss their results? What types of graphs and tables do they use? What standard notation? What statistical tests?</a:t>
            </a:r>
          </a:p>
          <a:p>
            <a:pPr lvl="1"/>
            <a:r>
              <a:rPr lang="en-US" dirty="0"/>
              <a:t>Are there conventions that you should follow?</a:t>
            </a:r>
          </a:p>
        </p:txBody>
      </p:sp>
    </p:spTree>
    <p:extLst>
      <p:ext uri="{BB962C8B-B14F-4D97-AF65-F5344CB8AC3E}">
        <p14:creationId xmlns:p14="http://schemas.microsoft.com/office/powerpoint/2010/main" val="712511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44532-4554-3ABF-FDEF-62DA37FF6E3E}"/>
              </a:ext>
            </a:extLst>
          </p:cNvPr>
          <p:cNvSpPr>
            <a:spLocks noGrp="1"/>
          </p:cNvSpPr>
          <p:nvPr>
            <p:ph type="title"/>
          </p:nvPr>
        </p:nvSpPr>
        <p:spPr/>
        <p:txBody>
          <a:bodyPr/>
          <a:lstStyle/>
          <a:p>
            <a:r>
              <a:rPr lang="en-US" dirty="0"/>
              <a:t>Background research</a:t>
            </a:r>
          </a:p>
        </p:txBody>
      </p:sp>
      <p:sp>
        <p:nvSpPr>
          <p:cNvPr id="3" name="Content Placeholder 2">
            <a:extLst>
              <a:ext uri="{FF2B5EF4-FFF2-40B4-BE49-F238E27FC236}">
                <a16:creationId xmlns:a16="http://schemas.microsoft.com/office/drawing/2014/main" id="{034631D4-CD2A-2531-41B2-6BBA27C4A13C}"/>
              </a:ext>
            </a:extLst>
          </p:cNvPr>
          <p:cNvSpPr>
            <a:spLocks noGrp="1"/>
          </p:cNvSpPr>
          <p:nvPr>
            <p:ph idx="1"/>
          </p:nvPr>
        </p:nvSpPr>
        <p:spPr/>
        <p:txBody>
          <a:bodyPr/>
          <a:lstStyle/>
          <a:p>
            <a:pPr>
              <a:buFontTx/>
              <a:buChar char="-"/>
            </a:pPr>
            <a:r>
              <a:rPr lang="en-US" dirty="0"/>
              <a:t>Cite and discuss relevant work because it is the right thing to do</a:t>
            </a:r>
          </a:p>
          <a:p>
            <a:pPr>
              <a:buFontTx/>
              <a:buChar char="-"/>
            </a:pPr>
            <a:r>
              <a:rPr lang="en-US" dirty="0"/>
              <a:t>You learn by carefully comparing their work to yours, and by distinguishing your work from theirs. The ‘related work’ section is important for your own understanding.</a:t>
            </a:r>
          </a:p>
          <a:p>
            <a:pPr>
              <a:buFontTx/>
              <a:buChar char="-"/>
            </a:pPr>
            <a:r>
              <a:rPr lang="en-US" dirty="0"/>
              <a:t>Be tactful, fair, and constructive because authors of other recent work may be your referees! </a:t>
            </a:r>
            <a:br>
              <a:rPr lang="en-US" dirty="0"/>
            </a:br>
            <a:r>
              <a:rPr lang="en-US" dirty="0" err="1"/>
              <a:t>Emphasise</a:t>
            </a:r>
            <a:r>
              <a:rPr lang="en-US" dirty="0"/>
              <a:t> their contributions not their faults. </a:t>
            </a:r>
          </a:p>
          <a:p>
            <a:pPr>
              <a:buFontTx/>
              <a:buChar char="-"/>
            </a:pPr>
            <a:r>
              <a:rPr lang="en-US" dirty="0"/>
              <a:t>For closely related work, include discussion as well as the bare citation, because this is tactful to your referees, and because it helps the reader navigate the field of research. </a:t>
            </a:r>
          </a:p>
        </p:txBody>
      </p:sp>
    </p:spTree>
    <p:extLst>
      <p:ext uri="{BB962C8B-B14F-4D97-AF65-F5344CB8AC3E}">
        <p14:creationId xmlns:p14="http://schemas.microsoft.com/office/powerpoint/2010/main" val="4166474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81710-B552-C893-3C49-FBB8CCF9D767}"/>
              </a:ext>
            </a:extLst>
          </p:cNvPr>
          <p:cNvSpPr>
            <a:spLocks noGrp="1"/>
          </p:cNvSpPr>
          <p:nvPr>
            <p:ph type="title"/>
          </p:nvPr>
        </p:nvSpPr>
        <p:spPr/>
        <p:txBody>
          <a:bodyPr/>
          <a:lstStyle/>
          <a:p>
            <a:r>
              <a:rPr lang="en-US" dirty="0"/>
              <a:t>The Introduction</a:t>
            </a:r>
          </a:p>
        </p:txBody>
      </p:sp>
      <p:sp>
        <p:nvSpPr>
          <p:cNvPr id="3" name="Content Placeholder 2">
            <a:extLst>
              <a:ext uri="{FF2B5EF4-FFF2-40B4-BE49-F238E27FC236}">
                <a16:creationId xmlns:a16="http://schemas.microsoft.com/office/drawing/2014/main" id="{606F87C0-C3B3-6965-A465-FE57FDE1E4CF}"/>
              </a:ext>
            </a:extLst>
          </p:cNvPr>
          <p:cNvSpPr>
            <a:spLocks noGrp="1"/>
          </p:cNvSpPr>
          <p:nvPr>
            <p:ph idx="1"/>
          </p:nvPr>
        </p:nvSpPr>
        <p:spPr/>
        <p:txBody>
          <a:bodyPr/>
          <a:lstStyle/>
          <a:p>
            <a:pPr marL="0" indent="0">
              <a:buNone/>
            </a:pPr>
            <a:r>
              <a:rPr lang="en-US" dirty="0"/>
              <a:t>Ideally, </a:t>
            </a:r>
            <a:r>
              <a:rPr lang="en-US" b="1" dirty="0"/>
              <a:t>write it last</a:t>
            </a:r>
            <a:r>
              <a:rPr lang="en-US" dirty="0"/>
              <a:t>.  Why?  There is no natural place to start! </a:t>
            </a:r>
          </a:p>
          <a:p>
            <a:pPr marL="0" indent="0">
              <a:buNone/>
            </a:pPr>
            <a:r>
              <a:rPr lang="en-US" dirty="0"/>
              <a:t>At the beginning?</a:t>
            </a:r>
          </a:p>
          <a:p>
            <a:pPr marL="0" indent="0">
              <a:buNone/>
            </a:pPr>
            <a:r>
              <a:rPr lang="en-US" dirty="0"/>
              <a:t>“In the beginning God created the heaven and the earth. And the earth was without form and void; and darkness was on the face of the deep.”   </a:t>
            </a:r>
          </a:p>
          <a:p>
            <a:pPr marL="0" indent="0">
              <a:buNone/>
            </a:pPr>
            <a:r>
              <a:rPr lang="en-US" dirty="0"/>
              <a:t>Too far back… </a:t>
            </a:r>
          </a:p>
          <a:p>
            <a:pPr marL="0" indent="0">
              <a:buNone/>
            </a:pPr>
            <a:endParaRPr lang="en-US" dirty="0"/>
          </a:p>
          <a:p>
            <a:pPr marL="0" indent="0">
              <a:buNone/>
            </a:pPr>
            <a:r>
              <a:rPr lang="en-US" dirty="0"/>
              <a:t>If you write it last, you will put in only what you really need to explain to the reader. </a:t>
            </a:r>
          </a:p>
        </p:txBody>
      </p:sp>
    </p:spTree>
    <p:extLst>
      <p:ext uri="{BB962C8B-B14F-4D97-AF65-F5344CB8AC3E}">
        <p14:creationId xmlns:p14="http://schemas.microsoft.com/office/powerpoint/2010/main" val="3499238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CDE7F-4FCA-F1D8-FAB1-BFF4EBCE079B}"/>
              </a:ext>
            </a:extLst>
          </p:cNvPr>
          <p:cNvSpPr>
            <a:spLocks noGrp="1"/>
          </p:cNvSpPr>
          <p:nvPr>
            <p:ph type="title"/>
          </p:nvPr>
        </p:nvSpPr>
        <p:spPr/>
        <p:txBody>
          <a:bodyPr/>
          <a:lstStyle/>
          <a:p>
            <a:r>
              <a:rPr lang="en-US" dirty="0"/>
              <a:t>Claims: what have you achieved?</a:t>
            </a:r>
          </a:p>
        </p:txBody>
      </p:sp>
      <p:sp>
        <p:nvSpPr>
          <p:cNvPr id="3" name="Content Placeholder 2">
            <a:extLst>
              <a:ext uri="{FF2B5EF4-FFF2-40B4-BE49-F238E27FC236}">
                <a16:creationId xmlns:a16="http://schemas.microsoft.com/office/drawing/2014/main" id="{BD0FF85F-C84A-EF56-B4F1-6ECAF31F0A2C}"/>
              </a:ext>
            </a:extLst>
          </p:cNvPr>
          <p:cNvSpPr>
            <a:spLocks noGrp="1"/>
          </p:cNvSpPr>
          <p:nvPr>
            <p:ph idx="1"/>
          </p:nvPr>
        </p:nvSpPr>
        <p:spPr/>
        <p:txBody>
          <a:bodyPr>
            <a:normAutofit fontScale="92500" lnSpcReduction="20000"/>
          </a:bodyPr>
          <a:lstStyle/>
          <a:p>
            <a:pPr marL="0" indent="0">
              <a:buNone/>
            </a:pPr>
            <a:r>
              <a:rPr lang="en-US" dirty="0"/>
              <a:t>You must state your claims, otherwise why should people read your report?  </a:t>
            </a:r>
          </a:p>
          <a:p>
            <a:pPr marL="0" indent="0">
              <a:buNone/>
            </a:pPr>
            <a:endParaRPr lang="en-US" dirty="0"/>
          </a:p>
          <a:p>
            <a:pPr marL="0" indent="0">
              <a:buNone/>
            </a:pPr>
            <a:r>
              <a:rPr lang="en-US" dirty="0"/>
              <a:t>Preview the claims at the beginning (so that readers can see if they want to dip in), and state them carefully at the end. </a:t>
            </a:r>
          </a:p>
          <a:p>
            <a:pPr marL="0" indent="0">
              <a:buNone/>
            </a:pPr>
            <a:endParaRPr lang="en-US" dirty="0"/>
          </a:p>
          <a:p>
            <a:pPr marL="0" indent="0">
              <a:buNone/>
            </a:pPr>
            <a:r>
              <a:rPr lang="en-US" dirty="0"/>
              <a:t>Do justice to your own work, but </a:t>
            </a:r>
            <a:r>
              <a:rPr lang="en-US" b="1" dirty="0"/>
              <a:t>don’t over-claim</a:t>
            </a:r>
            <a:r>
              <a:rPr lang="en-US" dirty="0"/>
              <a:t>.  </a:t>
            </a:r>
          </a:p>
          <a:p>
            <a:pPr marL="0" indent="0">
              <a:buNone/>
            </a:pPr>
            <a:r>
              <a:rPr lang="en-US" dirty="0"/>
              <a:t>You should state your achievements boldly and fairly, but if you exaggerate, it doesn’t look good. </a:t>
            </a:r>
          </a:p>
          <a:p>
            <a:pPr marL="0" indent="0">
              <a:buNone/>
            </a:pPr>
            <a:endParaRPr lang="en-US" dirty="0"/>
          </a:p>
          <a:p>
            <a:pPr marL="0" indent="0">
              <a:buNone/>
            </a:pPr>
            <a:r>
              <a:rPr lang="en-US" dirty="0"/>
              <a:t>But you do have to point out what you have achieved, because otherwise the reader may not notice. That would be tragic. </a:t>
            </a:r>
          </a:p>
        </p:txBody>
      </p:sp>
    </p:spTree>
    <p:extLst>
      <p:ext uri="{BB962C8B-B14F-4D97-AF65-F5344CB8AC3E}">
        <p14:creationId xmlns:p14="http://schemas.microsoft.com/office/powerpoint/2010/main" val="1312003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7EBF68-620C-C67C-DC7D-0E2058FE61E7}"/>
              </a:ext>
            </a:extLst>
          </p:cNvPr>
          <p:cNvSpPr>
            <a:spLocks noGrp="1"/>
          </p:cNvSpPr>
          <p:nvPr>
            <p:ph idx="1"/>
          </p:nvPr>
        </p:nvSpPr>
        <p:spPr>
          <a:xfrm>
            <a:off x="649014" y="543363"/>
            <a:ext cx="10515600" cy="5647230"/>
          </a:xfrm>
        </p:spPr>
        <p:txBody>
          <a:bodyPr/>
          <a:lstStyle/>
          <a:p>
            <a:pPr marL="0" indent="0" algn="ctr">
              <a:buNone/>
            </a:pPr>
            <a:endParaRPr lang="en-US" dirty="0"/>
          </a:p>
          <a:p>
            <a:pPr marL="0" indent="0" algn="ctr">
              <a:buNone/>
            </a:pPr>
            <a:endParaRPr lang="en-US" dirty="0"/>
          </a:p>
          <a:p>
            <a:pPr marL="0" indent="0" algn="ctr">
              <a:buNone/>
            </a:pPr>
            <a:r>
              <a:rPr lang="en-US" sz="2400" dirty="0"/>
              <a:t>Writing Large</a:t>
            </a:r>
          </a:p>
          <a:p>
            <a:pPr marL="0" indent="0" algn="ctr">
              <a:buNone/>
            </a:pPr>
            <a:endParaRPr lang="en-US" dirty="0"/>
          </a:p>
          <a:p>
            <a:pPr marL="0" indent="0" algn="ctr">
              <a:buNone/>
            </a:pPr>
            <a:endParaRPr lang="en-US" dirty="0"/>
          </a:p>
          <a:p>
            <a:pPr marL="0" indent="0" algn="ctr">
              <a:buNone/>
            </a:pPr>
            <a:r>
              <a:rPr lang="en-US" sz="4000" dirty="0"/>
              <a:t>Writing Medium </a:t>
            </a:r>
          </a:p>
          <a:p>
            <a:pPr marL="0" indent="0" algn="ctr">
              <a:buNone/>
            </a:pPr>
            <a:endParaRPr lang="en-US" dirty="0"/>
          </a:p>
          <a:p>
            <a:pPr marL="0" indent="0" algn="ctr">
              <a:buNone/>
            </a:pPr>
            <a:endParaRPr lang="en-US" dirty="0"/>
          </a:p>
          <a:p>
            <a:pPr marL="0" indent="0" algn="ctr">
              <a:buNone/>
            </a:pPr>
            <a:r>
              <a:rPr lang="en-US" sz="2400" dirty="0"/>
              <a:t>Writing Small</a:t>
            </a:r>
          </a:p>
        </p:txBody>
      </p:sp>
    </p:spTree>
    <p:extLst>
      <p:ext uri="{BB962C8B-B14F-4D97-AF65-F5344CB8AC3E}">
        <p14:creationId xmlns:p14="http://schemas.microsoft.com/office/powerpoint/2010/main" val="3847084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B0F8F-C6AD-64CB-9901-0785A23BFCCE}"/>
              </a:ext>
            </a:extLst>
          </p:cNvPr>
          <p:cNvSpPr>
            <a:spLocks noGrp="1"/>
          </p:cNvSpPr>
          <p:nvPr>
            <p:ph type="title"/>
          </p:nvPr>
        </p:nvSpPr>
        <p:spPr/>
        <p:txBody>
          <a:bodyPr/>
          <a:lstStyle/>
          <a:p>
            <a:r>
              <a:rPr lang="en-US" dirty="0"/>
              <a:t>Structure</a:t>
            </a:r>
          </a:p>
        </p:txBody>
      </p:sp>
      <p:sp>
        <p:nvSpPr>
          <p:cNvPr id="3" name="Content Placeholder 2">
            <a:extLst>
              <a:ext uri="{FF2B5EF4-FFF2-40B4-BE49-F238E27FC236}">
                <a16:creationId xmlns:a16="http://schemas.microsoft.com/office/drawing/2014/main" id="{BB90CC4E-5C8B-3638-F3E4-CD38C30969B2}"/>
              </a:ext>
            </a:extLst>
          </p:cNvPr>
          <p:cNvSpPr>
            <a:spLocks noGrp="1"/>
          </p:cNvSpPr>
          <p:nvPr>
            <p:ph idx="1"/>
          </p:nvPr>
        </p:nvSpPr>
        <p:spPr>
          <a:xfrm>
            <a:off x="838200" y="1363170"/>
            <a:ext cx="10515600" cy="4985078"/>
          </a:xfrm>
        </p:spPr>
        <p:txBody>
          <a:bodyPr>
            <a:normAutofit fontScale="62500" lnSpcReduction="20000"/>
          </a:bodyPr>
          <a:lstStyle/>
          <a:p>
            <a:pPr marL="0" indent="0">
              <a:lnSpc>
                <a:spcPct val="170000"/>
              </a:lnSpc>
              <a:buNone/>
            </a:pPr>
            <a:r>
              <a:rPr lang="en-US" b="1" dirty="0"/>
              <a:t>Sections</a:t>
            </a:r>
            <a:r>
              <a:rPr lang="en-US" dirty="0"/>
              <a:t> and </a:t>
            </a:r>
            <a:r>
              <a:rPr lang="en-US" b="1" dirty="0"/>
              <a:t>subsections</a:t>
            </a:r>
            <a:r>
              <a:rPr lang="en-US" dirty="0"/>
              <a:t> are your friends.</a:t>
            </a:r>
          </a:p>
          <a:p>
            <a:pPr marL="0" indent="0">
              <a:lnSpc>
                <a:spcPct val="170000"/>
              </a:lnSpc>
              <a:buNone/>
            </a:pPr>
            <a:r>
              <a:rPr lang="en-US" dirty="0"/>
              <a:t>Sub-sub-sections not so much…put them in </a:t>
            </a:r>
            <a:r>
              <a:rPr lang="en-US" b="1" dirty="0"/>
              <a:t>while writing</a:t>
            </a:r>
            <a:r>
              <a:rPr lang="en-US" dirty="0"/>
              <a:t>, but try to take them out once you have finished.  It’s more elegant.</a:t>
            </a:r>
          </a:p>
          <a:p>
            <a:pPr marL="0" indent="0">
              <a:lnSpc>
                <a:spcPct val="170000"/>
              </a:lnSpc>
              <a:buNone/>
            </a:pPr>
            <a:r>
              <a:rPr lang="en-US" dirty="0"/>
              <a:t>There is no best linear order of ideas: find a reasonable ordering and try to stick to it.  Refactor the ordering only if you really need to.</a:t>
            </a:r>
          </a:p>
          <a:p>
            <a:pPr marL="0" indent="0">
              <a:lnSpc>
                <a:spcPct val="170000"/>
              </a:lnSpc>
              <a:buNone/>
            </a:pPr>
            <a:r>
              <a:rPr lang="en-US" dirty="0"/>
              <a:t>People often </a:t>
            </a:r>
            <a:r>
              <a:rPr lang="en-US" dirty="0" err="1"/>
              <a:t>say“just</a:t>
            </a:r>
            <a:r>
              <a:rPr lang="en-US" dirty="0"/>
              <a:t> write” because “editing is easier than writing”.   This is not always true. If you try to just write everything at once – it all becomes tangled and it is a lot of work to sort it out again. </a:t>
            </a:r>
          </a:p>
          <a:p>
            <a:pPr marL="0" indent="0">
              <a:lnSpc>
                <a:spcPct val="170000"/>
              </a:lnSpc>
              <a:buNone/>
            </a:pPr>
            <a:r>
              <a:rPr lang="en-US" dirty="0"/>
              <a:t>Establish your </a:t>
            </a:r>
            <a:r>
              <a:rPr lang="en-US" b="1" dirty="0"/>
              <a:t>section headings first</a:t>
            </a:r>
            <a:r>
              <a:rPr lang="en-US" dirty="0"/>
              <a:t>, decide what is in each section, and </a:t>
            </a:r>
            <a:r>
              <a:rPr lang="en-US" b="1" dirty="0"/>
              <a:t>then</a:t>
            </a:r>
            <a:r>
              <a:rPr lang="en-US" dirty="0"/>
              <a:t> ‘just write’ within sections.  This can work. </a:t>
            </a:r>
          </a:p>
          <a:p>
            <a:pPr marL="0" indent="0">
              <a:lnSpc>
                <a:spcPct val="170000"/>
              </a:lnSpc>
              <a:buNone/>
            </a:pPr>
            <a:r>
              <a:rPr lang="en-US" b="1" dirty="0"/>
              <a:t>Structure first, then fill it with text.</a:t>
            </a:r>
          </a:p>
        </p:txBody>
      </p:sp>
    </p:spTree>
    <p:extLst>
      <p:ext uri="{BB962C8B-B14F-4D97-AF65-F5344CB8AC3E}">
        <p14:creationId xmlns:p14="http://schemas.microsoft.com/office/powerpoint/2010/main" val="1378692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9BE6F-67C4-68DB-57F1-07C54EA62C40}"/>
              </a:ext>
            </a:extLst>
          </p:cNvPr>
          <p:cNvSpPr>
            <a:spLocks noGrp="1"/>
          </p:cNvSpPr>
          <p:nvPr>
            <p:ph type="title"/>
          </p:nvPr>
        </p:nvSpPr>
        <p:spPr/>
        <p:txBody>
          <a:bodyPr/>
          <a:lstStyle/>
          <a:p>
            <a:r>
              <a:rPr lang="en-US" dirty="0"/>
              <a:t>Say everything only once, in the right place</a:t>
            </a:r>
          </a:p>
        </p:txBody>
      </p:sp>
      <p:sp>
        <p:nvSpPr>
          <p:cNvPr id="3" name="Content Placeholder 2">
            <a:extLst>
              <a:ext uri="{FF2B5EF4-FFF2-40B4-BE49-F238E27FC236}">
                <a16:creationId xmlns:a16="http://schemas.microsoft.com/office/drawing/2014/main" id="{F8BCA6CE-A62E-3A81-8E5A-2E2EC602FE0D}"/>
              </a:ext>
            </a:extLst>
          </p:cNvPr>
          <p:cNvSpPr>
            <a:spLocks noGrp="1"/>
          </p:cNvSpPr>
          <p:nvPr>
            <p:ph idx="1"/>
          </p:nvPr>
        </p:nvSpPr>
        <p:spPr/>
        <p:txBody>
          <a:bodyPr>
            <a:normAutofit lnSpcReduction="10000"/>
          </a:bodyPr>
          <a:lstStyle/>
          <a:p>
            <a:pPr marL="0" indent="0">
              <a:buNone/>
            </a:pPr>
            <a:r>
              <a:rPr lang="en-US" dirty="0"/>
              <a:t>It is tempting to give a short explanation of something in the introduction, then a longer explanation later on.</a:t>
            </a:r>
          </a:p>
          <a:p>
            <a:pPr marL="0" indent="0">
              <a:buNone/>
            </a:pPr>
            <a:r>
              <a:rPr lang="en-US" dirty="0"/>
              <a:t>This leads to a problem: as you write, you don’t know where the main explanation is, and you can move sentences backwards and forwards between two places in your report for hours.  </a:t>
            </a:r>
          </a:p>
          <a:p>
            <a:pPr marL="0" indent="0">
              <a:buNone/>
            </a:pPr>
            <a:r>
              <a:rPr lang="en-US" dirty="0"/>
              <a:t>The point of structure is to </a:t>
            </a:r>
            <a:r>
              <a:rPr lang="en-US" b="1" dirty="0"/>
              <a:t>know where to put </a:t>
            </a:r>
            <a:r>
              <a:rPr lang="en-US" dirty="0"/>
              <a:t>each explanation and idea. Each should go in one place only. </a:t>
            </a:r>
          </a:p>
          <a:p>
            <a:pPr marL="0" indent="0">
              <a:buNone/>
            </a:pPr>
            <a:endParaRPr lang="en-US" b="1" dirty="0"/>
          </a:p>
          <a:p>
            <a:pPr marL="0" indent="0">
              <a:buNone/>
            </a:pPr>
            <a:r>
              <a:rPr lang="en-US" dirty="0"/>
              <a:t>Only exception:  your contributions and claims can be at the beginning and also at the end. </a:t>
            </a:r>
          </a:p>
        </p:txBody>
      </p:sp>
    </p:spTree>
    <p:extLst>
      <p:ext uri="{BB962C8B-B14F-4D97-AF65-F5344CB8AC3E}">
        <p14:creationId xmlns:p14="http://schemas.microsoft.com/office/powerpoint/2010/main" val="3065726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2958F-ADAD-EDE0-DBBD-F3E8D3C7F915}"/>
              </a:ext>
            </a:extLst>
          </p:cNvPr>
          <p:cNvSpPr>
            <a:spLocks noGrp="1"/>
          </p:cNvSpPr>
          <p:nvPr>
            <p:ph type="title"/>
          </p:nvPr>
        </p:nvSpPr>
        <p:spPr/>
        <p:txBody>
          <a:bodyPr/>
          <a:lstStyle/>
          <a:p>
            <a:r>
              <a:rPr lang="en-US" dirty="0"/>
              <a:t>Technical writing: consistent terminology</a:t>
            </a:r>
          </a:p>
        </p:txBody>
      </p:sp>
      <p:sp>
        <p:nvSpPr>
          <p:cNvPr id="3" name="Content Placeholder 2">
            <a:extLst>
              <a:ext uri="{FF2B5EF4-FFF2-40B4-BE49-F238E27FC236}">
                <a16:creationId xmlns:a16="http://schemas.microsoft.com/office/drawing/2014/main" id="{49606D48-C4B2-8EF9-02A9-1B7F717D37CE}"/>
              </a:ext>
            </a:extLst>
          </p:cNvPr>
          <p:cNvSpPr>
            <a:spLocks noGrp="1"/>
          </p:cNvSpPr>
          <p:nvPr>
            <p:ph idx="1"/>
          </p:nvPr>
        </p:nvSpPr>
        <p:spPr/>
        <p:txBody>
          <a:bodyPr>
            <a:normAutofit lnSpcReduction="10000"/>
          </a:bodyPr>
          <a:lstStyle/>
          <a:p>
            <a:pPr marL="0" indent="0">
              <a:buNone/>
            </a:pPr>
            <a:r>
              <a:rPr lang="en-US" dirty="0"/>
              <a:t>Through the whole of your report, you will need to refer to particular things for which there is no exact word. </a:t>
            </a:r>
          </a:p>
          <a:p>
            <a:pPr marL="0" indent="0">
              <a:buNone/>
            </a:pPr>
            <a:r>
              <a:rPr lang="en-US" dirty="0" err="1"/>
              <a:t>eg</a:t>
            </a:r>
            <a:r>
              <a:rPr lang="en-US" dirty="0"/>
              <a:t> in reinforcement learning, the rewards at each time-step may be called </a:t>
            </a:r>
            <a:r>
              <a:rPr lang="en-US" i="1" dirty="0"/>
              <a:t>payoffs</a:t>
            </a:r>
            <a:r>
              <a:rPr lang="en-US" dirty="0"/>
              <a:t> or </a:t>
            </a:r>
            <a:r>
              <a:rPr lang="en-US" i="1" dirty="0"/>
              <a:t>rewards</a:t>
            </a:r>
            <a:r>
              <a:rPr lang="en-US" dirty="0"/>
              <a:t>; for the time-average of rewards I use </a:t>
            </a:r>
            <a:r>
              <a:rPr lang="en-US" i="1" dirty="0"/>
              <a:t>return</a:t>
            </a:r>
            <a:r>
              <a:rPr lang="en-US" dirty="0"/>
              <a:t>.  Make reasonable (and conventional) choices for technical terms as you need them, define your term, and then </a:t>
            </a:r>
            <a:r>
              <a:rPr lang="en-US" b="1" dirty="0"/>
              <a:t>stick to these choices throughout the report</a:t>
            </a:r>
            <a:r>
              <a:rPr lang="en-US" dirty="0"/>
              <a:t>.</a:t>
            </a:r>
          </a:p>
          <a:p>
            <a:pPr marL="0" indent="0">
              <a:buNone/>
            </a:pPr>
            <a:endParaRPr lang="en-US" dirty="0"/>
          </a:p>
          <a:p>
            <a:pPr marL="0" indent="0">
              <a:buNone/>
            </a:pPr>
            <a:r>
              <a:rPr lang="en-US" dirty="0"/>
              <a:t>Just like a program variable, you can use any name you want. If you choose “hippopotamus”, then you must consistently use “hippopotamus” throughout. </a:t>
            </a:r>
          </a:p>
        </p:txBody>
      </p:sp>
    </p:spTree>
    <p:extLst>
      <p:ext uri="{BB962C8B-B14F-4D97-AF65-F5344CB8AC3E}">
        <p14:creationId xmlns:p14="http://schemas.microsoft.com/office/powerpoint/2010/main" val="223670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3AA98-BC12-D482-18B0-EF6E09019737}"/>
              </a:ext>
            </a:extLst>
          </p:cNvPr>
          <p:cNvSpPr>
            <a:spLocks noGrp="1"/>
          </p:cNvSpPr>
          <p:nvPr>
            <p:ph type="title"/>
          </p:nvPr>
        </p:nvSpPr>
        <p:spPr/>
        <p:txBody>
          <a:bodyPr>
            <a:normAutofit/>
          </a:bodyPr>
          <a:lstStyle/>
          <a:p>
            <a:r>
              <a:rPr lang="en-US" sz="4000" dirty="0"/>
              <a:t>Pseudocode, Equations, Diagrams, and Graphs</a:t>
            </a:r>
          </a:p>
        </p:txBody>
      </p:sp>
      <p:sp>
        <p:nvSpPr>
          <p:cNvPr id="3" name="Content Placeholder 2">
            <a:extLst>
              <a:ext uri="{FF2B5EF4-FFF2-40B4-BE49-F238E27FC236}">
                <a16:creationId xmlns:a16="http://schemas.microsoft.com/office/drawing/2014/main" id="{B8D2453F-95AF-9C9A-60D6-58C18BBF0A26}"/>
              </a:ext>
            </a:extLst>
          </p:cNvPr>
          <p:cNvSpPr>
            <a:spLocks noGrp="1"/>
          </p:cNvSpPr>
          <p:nvPr>
            <p:ph idx="1"/>
          </p:nvPr>
        </p:nvSpPr>
        <p:spPr/>
        <p:txBody>
          <a:bodyPr/>
          <a:lstStyle/>
          <a:p>
            <a:pPr marL="0" indent="0">
              <a:buNone/>
            </a:pPr>
            <a:r>
              <a:rPr lang="en-US" dirty="0"/>
              <a:t>Not everything can be explained in English text</a:t>
            </a:r>
          </a:p>
          <a:p>
            <a:pPr marL="0" indent="0">
              <a:buNone/>
            </a:pPr>
            <a:r>
              <a:rPr lang="en-US" dirty="0"/>
              <a:t>That is why pseudocode, equations, diagrams, and graphs were invented</a:t>
            </a:r>
          </a:p>
          <a:p>
            <a:pPr marL="0" indent="0">
              <a:buNone/>
            </a:pPr>
            <a:r>
              <a:rPr lang="en-US" b="1" dirty="0"/>
              <a:t>DO these FIRST</a:t>
            </a:r>
            <a:r>
              <a:rPr lang="en-US" dirty="0"/>
              <a:t>, then write your text around them. </a:t>
            </a:r>
          </a:p>
          <a:p>
            <a:pPr marL="0" indent="0">
              <a:buNone/>
            </a:pPr>
            <a:r>
              <a:rPr lang="en-US" dirty="0"/>
              <a:t>Otherwise you will find yourself spending half a page describing an equation/diagram/pseudocode, before you write the equation/diagram/pseudocode. </a:t>
            </a:r>
          </a:p>
        </p:txBody>
      </p:sp>
    </p:spTree>
    <p:extLst>
      <p:ext uri="{BB962C8B-B14F-4D97-AF65-F5344CB8AC3E}">
        <p14:creationId xmlns:p14="http://schemas.microsoft.com/office/powerpoint/2010/main" val="2077518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2302A-BD09-4396-8E06-0F45541C9BB4}"/>
              </a:ext>
            </a:extLst>
          </p:cNvPr>
          <p:cNvSpPr>
            <a:spLocks noGrp="1"/>
          </p:cNvSpPr>
          <p:nvPr>
            <p:ph type="title"/>
          </p:nvPr>
        </p:nvSpPr>
        <p:spPr/>
        <p:txBody>
          <a:bodyPr/>
          <a:lstStyle/>
          <a:p>
            <a:r>
              <a:rPr lang="en-US" dirty="0"/>
              <a:t>Diagrams</a:t>
            </a:r>
          </a:p>
        </p:txBody>
      </p:sp>
      <p:sp>
        <p:nvSpPr>
          <p:cNvPr id="3" name="Content Placeholder 2">
            <a:extLst>
              <a:ext uri="{FF2B5EF4-FFF2-40B4-BE49-F238E27FC236}">
                <a16:creationId xmlns:a16="http://schemas.microsoft.com/office/drawing/2014/main" id="{E8C995AD-AF17-FDCF-CF00-573C2F08ACFA}"/>
              </a:ext>
            </a:extLst>
          </p:cNvPr>
          <p:cNvSpPr>
            <a:spLocks noGrp="1"/>
          </p:cNvSpPr>
          <p:nvPr>
            <p:ph idx="1"/>
          </p:nvPr>
        </p:nvSpPr>
        <p:spPr/>
        <p:txBody>
          <a:bodyPr/>
          <a:lstStyle/>
          <a:p>
            <a:pPr marL="0" indent="0">
              <a:buNone/>
            </a:pPr>
            <a:r>
              <a:rPr lang="en-US" dirty="0"/>
              <a:t>DRAW YOUR OWN DIAGRAMS ! </a:t>
            </a:r>
          </a:p>
          <a:p>
            <a:pPr marL="0" indent="0">
              <a:buNone/>
            </a:pPr>
            <a:r>
              <a:rPr lang="en-US" dirty="0"/>
              <a:t>You diagram will be better because </a:t>
            </a:r>
          </a:p>
          <a:p>
            <a:pPr marL="0" indent="0">
              <a:buNone/>
            </a:pPr>
            <a:r>
              <a:rPr lang="en-US" dirty="0"/>
              <a:t>	- you understand it</a:t>
            </a:r>
          </a:p>
          <a:p>
            <a:pPr marL="0" indent="0">
              <a:buNone/>
            </a:pPr>
            <a:r>
              <a:rPr lang="en-US" dirty="0"/>
              <a:t>	- it shows what you want it do show</a:t>
            </a:r>
          </a:p>
          <a:p>
            <a:pPr marL="0" indent="0">
              <a:buNone/>
            </a:pPr>
            <a:r>
              <a:rPr lang="en-US" dirty="0"/>
              <a:t>You </a:t>
            </a:r>
            <a:r>
              <a:rPr lang="en-US" i="1" dirty="0"/>
              <a:t>can</a:t>
            </a:r>
            <a:r>
              <a:rPr lang="en-US" dirty="0"/>
              <a:t> use diagrams that you find on the web, but</a:t>
            </a:r>
          </a:p>
          <a:p>
            <a:pPr marL="0" indent="0">
              <a:buNone/>
            </a:pPr>
            <a:r>
              <a:rPr lang="en-US" dirty="0"/>
              <a:t>	- you </a:t>
            </a:r>
            <a:r>
              <a:rPr lang="en-US" b="1" dirty="0"/>
              <a:t>must </a:t>
            </a:r>
            <a:r>
              <a:rPr lang="en-US" dirty="0"/>
              <a:t>reference where you got them</a:t>
            </a:r>
          </a:p>
          <a:p>
            <a:pPr marL="0" indent="0">
              <a:buNone/>
            </a:pPr>
            <a:r>
              <a:rPr lang="en-US" dirty="0"/>
              <a:t>	- they rarely show exactly what you want them to show</a:t>
            </a:r>
          </a:p>
          <a:p>
            <a:pPr marL="0" indent="0">
              <a:buNone/>
            </a:pPr>
            <a:r>
              <a:rPr lang="en-US" dirty="0"/>
              <a:t>	- frequently they are pretty bad. Learn to draw your own.</a:t>
            </a:r>
          </a:p>
        </p:txBody>
      </p:sp>
    </p:spTree>
    <p:extLst>
      <p:ext uri="{BB962C8B-B14F-4D97-AF65-F5344CB8AC3E}">
        <p14:creationId xmlns:p14="http://schemas.microsoft.com/office/powerpoint/2010/main" val="927093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E170-1D0A-7A6E-4F65-EE88538EFE47}"/>
              </a:ext>
            </a:extLst>
          </p:cNvPr>
          <p:cNvSpPr>
            <a:spLocks noGrp="1"/>
          </p:cNvSpPr>
          <p:nvPr>
            <p:ph type="title"/>
          </p:nvPr>
        </p:nvSpPr>
        <p:spPr/>
        <p:txBody>
          <a:bodyPr/>
          <a:lstStyle/>
          <a:p>
            <a:r>
              <a:rPr lang="en-US" dirty="0"/>
              <a:t>Equations</a:t>
            </a:r>
          </a:p>
        </p:txBody>
      </p:sp>
      <p:sp>
        <p:nvSpPr>
          <p:cNvPr id="3" name="Content Placeholder 2">
            <a:extLst>
              <a:ext uri="{FF2B5EF4-FFF2-40B4-BE49-F238E27FC236}">
                <a16:creationId xmlns:a16="http://schemas.microsoft.com/office/drawing/2014/main" id="{5F4F3A74-7CCF-4431-7BBB-E49B402B594A}"/>
              </a:ext>
            </a:extLst>
          </p:cNvPr>
          <p:cNvSpPr>
            <a:spLocks noGrp="1"/>
          </p:cNvSpPr>
          <p:nvPr>
            <p:ph idx="1"/>
          </p:nvPr>
        </p:nvSpPr>
        <p:spPr/>
        <p:txBody>
          <a:bodyPr/>
          <a:lstStyle/>
          <a:p>
            <a:pPr marL="0" indent="0">
              <a:buNone/>
            </a:pPr>
            <a:r>
              <a:rPr lang="en-US" dirty="0"/>
              <a:t>When you need an equation you </a:t>
            </a:r>
            <a:r>
              <a:rPr lang="en-US" b="1" dirty="0"/>
              <a:t>must</a:t>
            </a:r>
            <a:endParaRPr lang="en-US" dirty="0"/>
          </a:p>
          <a:p>
            <a:pPr marL="0" indent="0">
              <a:buNone/>
            </a:pPr>
            <a:endParaRPr lang="en-US" dirty="0"/>
          </a:p>
          <a:p>
            <a:pPr marL="0" indent="0">
              <a:buNone/>
            </a:pPr>
            <a:r>
              <a:rPr lang="en-US" dirty="0"/>
              <a:t>	- explain carefully what each variable in the equation means</a:t>
            </a:r>
          </a:p>
          <a:p>
            <a:pPr marL="0" indent="0">
              <a:buNone/>
            </a:pPr>
            <a:endParaRPr lang="en-US" dirty="0"/>
          </a:p>
          <a:p>
            <a:pPr marL="0" indent="0">
              <a:buNone/>
            </a:pPr>
            <a:r>
              <a:rPr lang="en-US" dirty="0"/>
              <a:t> otherwise your equation is not interpretable.</a:t>
            </a:r>
          </a:p>
        </p:txBody>
      </p:sp>
    </p:spTree>
    <p:extLst>
      <p:ext uri="{BB962C8B-B14F-4D97-AF65-F5344CB8AC3E}">
        <p14:creationId xmlns:p14="http://schemas.microsoft.com/office/powerpoint/2010/main" val="1471840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8FFF-A32D-684F-66B1-AF9717899C95}"/>
              </a:ext>
            </a:extLst>
          </p:cNvPr>
          <p:cNvSpPr>
            <a:spLocks noGrp="1"/>
          </p:cNvSpPr>
          <p:nvPr>
            <p:ph type="title"/>
          </p:nvPr>
        </p:nvSpPr>
        <p:spPr/>
        <p:txBody>
          <a:bodyPr/>
          <a:lstStyle/>
          <a:p>
            <a:r>
              <a:rPr lang="en-US" dirty="0"/>
              <a:t>Experiments</a:t>
            </a:r>
          </a:p>
        </p:txBody>
      </p:sp>
      <p:sp>
        <p:nvSpPr>
          <p:cNvPr id="3" name="Content Placeholder 2">
            <a:extLst>
              <a:ext uri="{FF2B5EF4-FFF2-40B4-BE49-F238E27FC236}">
                <a16:creationId xmlns:a16="http://schemas.microsoft.com/office/drawing/2014/main" id="{2B293742-8D3A-6D62-9CCE-FCD635312BDC}"/>
              </a:ext>
            </a:extLst>
          </p:cNvPr>
          <p:cNvSpPr>
            <a:spLocks noGrp="1"/>
          </p:cNvSpPr>
          <p:nvPr>
            <p:ph idx="1"/>
          </p:nvPr>
        </p:nvSpPr>
        <p:spPr/>
        <p:txBody>
          <a:bodyPr/>
          <a:lstStyle/>
          <a:p>
            <a:pPr marL="0" indent="0">
              <a:buNone/>
            </a:pPr>
            <a:r>
              <a:rPr lang="en-US" dirty="0"/>
              <a:t>When you have written your program, there will be things you want to test about it. </a:t>
            </a:r>
          </a:p>
          <a:p>
            <a:pPr marL="0" indent="0">
              <a:buNone/>
            </a:pPr>
            <a:endParaRPr lang="en-US" dirty="0"/>
          </a:p>
          <a:p>
            <a:pPr marL="0" indent="0">
              <a:buNone/>
            </a:pPr>
            <a:r>
              <a:rPr lang="en-US" dirty="0"/>
              <a:t>You will need to do some experiments to measure how well it works under different conditions. </a:t>
            </a:r>
          </a:p>
          <a:p>
            <a:pPr marL="0" indent="0">
              <a:buNone/>
            </a:pPr>
            <a:endParaRPr lang="en-US" dirty="0"/>
          </a:p>
          <a:p>
            <a:pPr marL="0" indent="0">
              <a:buNone/>
            </a:pPr>
            <a:r>
              <a:rPr lang="en-US" dirty="0"/>
              <a:t>If you are doing a project on data-analysis, you will need to do multiple different data analyses – one can call these experiments.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00801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00596-4BAC-3DC2-DA93-7CD459A5CAB5}"/>
              </a:ext>
            </a:extLst>
          </p:cNvPr>
          <p:cNvSpPr>
            <a:spLocks noGrp="1"/>
          </p:cNvSpPr>
          <p:nvPr>
            <p:ph type="title"/>
          </p:nvPr>
        </p:nvSpPr>
        <p:spPr/>
        <p:txBody>
          <a:bodyPr/>
          <a:lstStyle/>
          <a:p>
            <a:r>
              <a:rPr lang="en-US" dirty="0"/>
              <a:t>Writing up an experiment</a:t>
            </a:r>
          </a:p>
        </p:txBody>
      </p:sp>
      <p:sp>
        <p:nvSpPr>
          <p:cNvPr id="3" name="Content Placeholder 2">
            <a:extLst>
              <a:ext uri="{FF2B5EF4-FFF2-40B4-BE49-F238E27FC236}">
                <a16:creationId xmlns:a16="http://schemas.microsoft.com/office/drawing/2014/main" id="{B9E1E75D-1914-6253-C219-7E605435420F}"/>
              </a:ext>
            </a:extLst>
          </p:cNvPr>
          <p:cNvSpPr>
            <a:spLocks noGrp="1"/>
          </p:cNvSpPr>
          <p:nvPr>
            <p:ph idx="1"/>
          </p:nvPr>
        </p:nvSpPr>
        <p:spPr/>
        <p:txBody>
          <a:bodyPr>
            <a:normAutofit fontScale="92500" lnSpcReduction="20000"/>
          </a:bodyPr>
          <a:lstStyle/>
          <a:p>
            <a:pPr marL="514350" indent="-514350">
              <a:buAutoNum type="arabicPeriod"/>
            </a:pPr>
            <a:r>
              <a:rPr lang="en-US" dirty="0"/>
              <a:t> An experiment starts with an </a:t>
            </a:r>
            <a:r>
              <a:rPr lang="en-US" b="1" dirty="0"/>
              <a:t>aim</a:t>
            </a:r>
            <a:r>
              <a:rPr lang="en-US" dirty="0"/>
              <a:t> or a </a:t>
            </a:r>
            <a:r>
              <a:rPr lang="en-US" b="1" dirty="0"/>
              <a:t>question</a:t>
            </a:r>
            <a:r>
              <a:rPr lang="en-US" dirty="0"/>
              <a:t> (Why do it?)</a:t>
            </a:r>
          </a:p>
          <a:p>
            <a:pPr marL="514350" indent="-514350">
              <a:buAutoNum type="arabicPeriod"/>
            </a:pPr>
            <a:r>
              <a:rPr lang="en-US" dirty="0"/>
              <a:t> </a:t>
            </a:r>
            <a:r>
              <a:rPr lang="en-US" b="1" dirty="0"/>
              <a:t>Design</a:t>
            </a:r>
            <a:r>
              <a:rPr lang="en-US" dirty="0"/>
              <a:t>: top level description of how to answer the question (How?)</a:t>
            </a:r>
          </a:p>
          <a:p>
            <a:pPr marL="514350" indent="-514350">
              <a:buAutoNum type="arabicPeriod"/>
            </a:pPr>
            <a:r>
              <a:rPr lang="en-US" dirty="0"/>
              <a:t> </a:t>
            </a:r>
            <a:r>
              <a:rPr lang="en-US" b="1" dirty="0"/>
              <a:t>Methods</a:t>
            </a:r>
            <a:r>
              <a:rPr lang="en-US" dirty="0"/>
              <a:t>: detailed description of what was done (supplementary or appendix, some info in main text or caption)</a:t>
            </a:r>
          </a:p>
          <a:p>
            <a:pPr marL="514350" indent="-514350">
              <a:buAutoNum type="arabicPeriod"/>
            </a:pPr>
            <a:r>
              <a:rPr lang="en-US" dirty="0"/>
              <a:t> </a:t>
            </a:r>
            <a:r>
              <a:rPr lang="en-US" b="1" dirty="0"/>
              <a:t>Results</a:t>
            </a:r>
            <a:r>
              <a:rPr lang="en-US" dirty="0"/>
              <a:t>: plain presentation of results as table or graph(s) </a:t>
            </a:r>
            <a:br>
              <a:rPr lang="en-US" dirty="0"/>
            </a:br>
            <a:r>
              <a:rPr lang="en-US" dirty="0"/>
              <a:t>Think about how to show the interesting information, and the relevant comparisons. Multiple graphs may be needed. </a:t>
            </a:r>
          </a:p>
          <a:p>
            <a:pPr marL="514350" indent="-514350">
              <a:buAutoNum type="arabicPeriod"/>
            </a:pPr>
            <a:r>
              <a:rPr lang="en-US" dirty="0"/>
              <a:t> </a:t>
            </a:r>
            <a:r>
              <a:rPr lang="en-US" b="1" dirty="0"/>
              <a:t>Discussion</a:t>
            </a:r>
            <a:r>
              <a:rPr lang="en-US" dirty="0"/>
              <a:t>. Is question answered? What was expected? What is surprising? What needs to be explained? Did something happen that you don’t understand?  What </a:t>
            </a:r>
            <a:r>
              <a:rPr lang="en-US" b="1" dirty="0"/>
              <a:t>further questions</a:t>
            </a:r>
            <a:r>
              <a:rPr lang="en-US" dirty="0"/>
              <a:t>?</a:t>
            </a:r>
          </a:p>
          <a:p>
            <a:pPr marL="514350" indent="-514350">
              <a:buAutoNum type="arabicPeriod"/>
            </a:pPr>
            <a:endParaRPr lang="en-US" dirty="0"/>
          </a:p>
          <a:p>
            <a:pPr marL="0" indent="0">
              <a:buNone/>
            </a:pPr>
            <a:r>
              <a:rPr lang="en-US" dirty="0"/>
              <a:t>This is the basic structure. </a:t>
            </a:r>
          </a:p>
        </p:txBody>
      </p:sp>
    </p:spTree>
    <p:extLst>
      <p:ext uri="{BB962C8B-B14F-4D97-AF65-F5344CB8AC3E}">
        <p14:creationId xmlns:p14="http://schemas.microsoft.com/office/powerpoint/2010/main" val="2701503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4DC8F-8BDB-3AF9-E0FA-ADAD8A5AE240}"/>
              </a:ext>
            </a:extLst>
          </p:cNvPr>
          <p:cNvSpPr>
            <a:spLocks noGrp="1"/>
          </p:cNvSpPr>
          <p:nvPr>
            <p:ph type="title"/>
          </p:nvPr>
        </p:nvSpPr>
        <p:spPr/>
        <p:txBody>
          <a:bodyPr/>
          <a:lstStyle/>
          <a:p>
            <a:r>
              <a:rPr lang="en-US" dirty="0"/>
              <a:t>Keep experiments simple and lightweight</a:t>
            </a:r>
          </a:p>
        </p:txBody>
      </p:sp>
      <p:sp>
        <p:nvSpPr>
          <p:cNvPr id="3" name="Content Placeholder 2">
            <a:extLst>
              <a:ext uri="{FF2B5EF4-FFF2-40B4-BE49-F238E27FC236}">
                <a16:creationId xmlns:a16="http://schemas.microsoft.com/office/drawing/2014/main" id="{D9B3F90F-2478-FC7C-9FAB-BFDD57036100}"/>
              </a:ext>
            </a:extLst>
          </p:cNvPr>
          <p:cNvSpPr>
            <a:spLocks noGrp="1"/>
          </p:cNvSpPr>
          <p:nvPr>
            <p:ph idx="1"/>
          </p:nvPr>
        </p:nvSpPr>
        <p:spPr/>
        <p:txBody>
          <a:bodyPr/>
          <a:lstStyle/>
          <a:p>
            <a:pPr marL="0" indent="0">
              <a:buNone/>
            </a:pPr>
            <a:r>
              <a:rPr lang="en-US" dirty="0"/>
              <a:t>A beginner thinks “There are five parameters to vary, so I will try five different values of each. That gives 3125 different runs; I think I can finish this before the deadline. So then I will plot the results.”</a:t>
            </a:r>
          </a:p>
          <a:p>
            <a:pPr marL="0" indent="0">
              <a:buNone/>
            </a:pPr>
            <a:r>
              <a:rPr lang="en-US" dirty="0"/>
              <a:t>Result: </a:t>
            </a:r>
            <a:r>
              <a:rPr lang="en-US" b="1" dirty="0"/>
              <a:t>disaster</a:t>
            </a:r>
            <a:r>
              <a:rPr lang="en-US" dirty="0"/>
              <a:t>. Usually there is a bug and you have to run it all again. Usually you find that only a few different parameter combinations are useful.  Usually 5 values is not enough for some parameters. </a:t>
            </a:r>
          </a:p>
          <a:p>
            <a:pPr marL="0" indent="0">
              <a:buNone/>
            </a:pPr>
            <a:endParaRPr lang="en-US" dirty="0"/>
          </a:p>
          <a:p>
            <a:pPr marL="0" indent="0">
              <a:buNone/>
            </a:pPr>
            <a:r>
              <a:rPr lang="en-US" dirty="0"/>
              <a:t>Instead: vary ONE or at most two parameters at a time. Think about which questions to ask first. </a:t>
            </a:r>
          </a:p>
        </p:txBody>
      </p:sp>
    </p:spTree>
    <p:extLst>
      <p:ext uri="{BB962C8B-B14F-4D97-AF65-F5344CB8AC3E}">
        <p14:creationId xmlns:p14="http://schemas.microsoft.com/office/powerpoint/2010/main" val="484837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AC8F5-0A96-C2B3-E75A-7D40653A6A00}"/>
              </a:ext>
            </a:extLst>
          </p:cNvPr>
          <p:cNvSpPr>
            <a:spLocks noGrp="1"/>
          </p:cNvSpPr>
          <p:nvPr>
            <p:ph type="title"/>
          </p:nvPr>
        </p:nvSpPr>
        <p:spPr/>
        <p:txBody>
          <a:bodyPr/>
          <a:lstStyle/>
          <a:p>
            <a:r>
              <a:rPr lang="en-US" dirty="0"/>
              <a:t>Plotting </a:t>
            </a:r>
          </a:p>
        </p:txBody>
      </p:sp>
      <p:sp>
        <p:nvSpPr>
          <p:cNvPr id="3" name="Content Placeholder 2">
            <a:extLst>
              <a:ext uri="{FF2B5EF4-FFF2-40B4-BE49-F238E27FC236}">
                <a16:creationId xmlns:a16="http://schemas.microsoft.com/office/drawing/2014/main" id="{07201876-F7D5-A674-72C0-F7441DA0D34E}"/>
              </a:ext>
            </a:extLst>
          </p:cNvPr>
          <p:cNvSpPr>
            <a:spLocks noGrp="1"/>
          </p:cNvSpPr>
          <p:nvPr>
            <p:ph idx="1"/>
          </p:nvPr>
        </p:nvSpPr>
        <p:spPr/>
        <p:txBody>
          <a:bodyPr/>
          <a:lstStyle/>
          <a:p>
            <a:pPr marL="0" indent="0">
              <a:buNone/>
            </a:pPr>
            <a:r>
              <a:rPr lang="en-US" dirty="0"/>
              <a:t>This is an art, well beyond the scope of this lecture. </a:t>
            </a:r>
          </a:p>
          <a:p>
            <a:pPr marL="0" indent="0">
              <a:buNone/>
            </a:pPr>
            <a:r>
              <a:rPr lang="en-US" dirty="0"/>
              <a:t>Just one example: </a:t>
            </a:r>
          </a:p>
          <a:p>
            <a:pPr marL="0" indent="0">
              <a:buNone/>
            </a:pPr>
            <a:r>
              <a:rPr lang="en-US" dirty="0"/>
              <a:t>Many of you will want to estimate the time complexity of your program. So you will do runs with different input sizes, and you will record the run-times. </a:t>
            </a:r>
          </a:p>
          <a:p>
            <a:pPr marL="0" indent="0">
              <a:buNone/>
            </a:pPr>
            <a:r>
              <a:rPr lang="en-US" dirty="0"/>
              <a:t>Please plot log(run-time) against log(input-size) …</a:t>
            </a:r>
          </a:p>
          <a:p>
            <a:pPr marL="0" indent="0">
              <a:buNone/>
            </a:pPr>
            <a:endParaRPr lang="en-US" dirty="0"/>
          </a:p>
          <a:p>
            <a:pPr marL="0" indent="0">
              <a:buNone/>
            </a:pPr>
            <a:r>
              <a:rPr lang="en-US" dirty="0"/>
              <a:t>Typically you will plot a graph five times before you get it right. </a:t>
            </a:r>
          </a:p>
        </p:txBody>
      </p:sp>
    </p:spTree>
    <p:extLst>
      <p:ext uri="{BB962C8B-B14F-4D97-AF65-F5344CB8AC3E}">
        <p14:creationId xmlns:p14="http://schemas.microsoft.com/office/powerpoint/2010/main" val="3628103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7EBF68-620C-C67C-DC7D-0E2058FE61E7}"/>
              </a:ext>
            </a:extLst>
          </p:cNvPr>
          <p:cNvSpPr>
            <a:spLocks noGrp="1"/>
          </p:cNvSpPr>
          <p:nvPr>
            <p:ph idx="1"/>
          </p:nvPr>
        </p:nvSpPr>
        <p:spPr>
          <a:xfrm>
            <a:off x="649014" y="543363"/>
            <a:ext cx="10515600" cy="5647230"/>
          </a:xfrm>
        </p:spPr>
        <p:txBody>
          <a:bodyPr/>
          <a:lstStyle/>
          <a:p>
            <a:pPr marL="0" indent="0" algn="ctr">
              <a:buNone/>
            </a:pPr>
            <a:endParaRPr lang="en-US" dirty="0"/>
          </a:p>
          <a:p>
            <a:pPr marL="0" indent="0" algn="ctr">
              <a:buNone/>
            </a:pPr>
            <a:endParaRPr lang="en-US" dirty="0"/>
          </a:p>
          <a:p>
            <a:pPr marL="0" indent="0" algn="ctr">
              <a:buNone/>
            </a:pPr>
            <a:r>
              <a:rPr lang="en-US" sz="2400" dirty="0"/>
              <a:t>Writing Large</a:t>
            </a:r>
          </a:p>
          <a:p>
            <a:pPr marL="0" indent="0" algn="ctr">
              <a:buNone/>
            </a:pPr>
            <a:endParaRPr lang="en-US" sz="2400" dirty="0"/>
          </a:p>
          <a:p>
            <a:pPr marL="0" indent="0" algn="ctr">
              <a:buNone/>
            </a:pPr>
            <a:endParaRPr lang="en-US" sz="2400" dirty="0"/>
          </a:p>
          <a:p>
            <a:pPr marL="0" indent="0" algn="ctr">
              <a:buNone/>
            </a:pPr>
            <a:r>
              <a:rPr lang="en-US" sz="2400" dirty="0"/>
              <a:t>Writing Medium </a:t>
            </a:r>
          </a:p>
          <a:p>
            <a:pPr marL="0" indent="0" algn="ctr">
              <a:buNone/>
            </a:pPr>
            <a:endParaRPr lang="en-US" dirty="0"/>
          </a:p>
          <a:p>
            <a:pPr marL="0" indent="0" algn="ctr">
              <a:buNone/>
            </a:pPr>
            <a:endParaRPr lang="en-US" dirty="0"/>
          </a:p>
          <a:p>
            <a:pPr marL="0" indent="0" algn="ctr">
              <a:buNone/>
            </a:pPr>
            <a:r>
              <a:rPr lang="en-US" sz="4000" dirty="0"/>
              <a:t>Writing Small</a:t>
            </a:r>
          </a:p>
        </p:txBody>
      </p:sp>
    </p:spTree>
    <p:extLst>
      <p:ext uri="{BB962C8B-B14F-4D97-AF65-F5344CB8AC3E}">
        <p14:creationId xmlns:p14="http://schemas.microsoft.com/office/powerpoint/2010/main" val="34408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CE4EB-C878-1266-4635-ED7C20E827EB}"/>
              </a:ext>
            </a:extLst>
          </p:cNvPr>
          <p:cNvSpPr>
            <a:spLocks noGrp="1"/>
          </p:cNvSpPr>
          <p:nvPr>
            <p:ph type="title"/>
          </p:nvPr>
        </p:nvSpPr>
        <p:spPr/>
        <p:txBody>
          <a:bodyPr/>
          <a:lstStyle/>
          <a:p>
            <a:r>
              <a:rPr lang="en-US" dirty="0"/>
              <a:t>But but but but … it’s hard for me</a:t>
            </a:r>
          </a:p>
        </p:txBody>
      </p:sp>
      <p:sp>
        <p:nvSpPr>
          <p:cNvPr id="3" name="Content Placeholder 2">
            <a:extLst>
              <a:ext uri="{FF2B5EF4-FFF2-40B4-BE49-F238E27FC236}">
                <a16:creationId xmlns:a16="http://schemas.microsoft.com/office/drawing/2014/main" id="{3A0509D0-B795-3B40-71A2-C6FC26F408F6}"/>
              </a:ext>
            </a:extLst>
          </p:cNvPr>
          <p:cNvSpPr>
            <a:spLocks noGrp="1"/>
          </p:cNvSpPr>
          <p:nvPr>
            <p:ph idx="1"/>
          </p:nvPr>
        </p:nvSpPr>
        <p:spPr/>
        <p:txBody>
          <a:bodyPr>
            <a:normAutofit lnSpcReduction="10000"/>
          </a:bodyPr>
          <a:lstStyle/>
          <a:p>
            <a:pPr marL="0" indent="0">
              <a:buNone/>
            </a:pPr>
            <a:r>
              <a:rPr lang="en-US" dirty="0"/>
              <a:t>“I’m dyslexic”  : not such a disadvantage in large-scale writing. You will likely have kept your own voice in your writing – it can be better!</a:t>
            </a:r>
          </a:p>
          <a:p>
            <a:pPr marL="0" indent="0">
              <a:buNone/>
            </a:pPr>
            <a:endParaRPr lang="en-US" dirty="0"/>
          </a:p>
          <a:p>
            <a:pPr marL="0" indent="0">
              <a:buNone/>
            </a:pPr>
            <a:r>
              <a:rPr lang="en-US" dirty="0"/>
              <a:t>“English is my second language!” : once again, not as bad as you think. </a:t>
            </a:r>
          </a:p>
          <a:p>
            <a:pPr marL="0" indent="0">
              <a:buNone/>
            </a:pPr>
            <a:r>
              <a:rPr lang="en-US" dirty="0"/>
              <a:t>Keep your sentences short, so you can easily modify them. </a:t>
            </a:r>
          </a:p>
          <a:p>
            <a:pPr marL="0" indent="0">
              <a:buNone/>
            </a:pPr>
            <a:r>
              <a:rPr lang="en-US" dirty="0"/>
              <a:t>Use headings and sub-headings. </a:t>
            </a:r>
          </a:p>
          <a:p>
            <a:pPr marL="0" indent="0">
              <a:buNone/>
            </a:pPr>
            <a:r>
              <a:rPr lang="en-US" dirty="0"/>
              <a:t>Native speakers can be too articulate, and get trapped in sentences that are too long and complicated. </a:t>
            </a:r>
          </a:p>
          <a:p>
            <a:pPr marL="0" indent="0">
              <a:buNone/>
            </a:pPr>
            <a:r>
              <a:rPr lang="en-US" dirty="0"/>
              <a:t>     </a:t>
            </a:r>
          </a:p>
        </p:txBody>
      </p:sp>
    </p:spTree>
    <p:extLst>
      <p:ext uri="{BB962C8B-B14F-4D97-AF65-F5344CB8AC3E}">
        <p14:creationId xmlns:p14="http://schemas.microsoft.com/office/powerpoint/2010/main" val="1670651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AC93-5F6B-993B-C9C4-669295966874}"/>
              </a:ext>
            </a:extLst>
          </p:cNvPr>
          <p:cNvSpPr>
            <a:spLocks noGrp="1"/>
          </p:cNvSpPr>
          <p:nvPr>
            <p:ph type="title"/>
          </p:nvPr>
        </p:nvSpPr>
        <p:spPr/>
        <p:txBody>
          <a:bodyPr/>
          <a:lstStyle/>
          <a:p>
            <a:r>
              <a:rPr lang="en-US" dirty="0"/>
              <a:t>Writing is hard</a:t>
            </a:r>
          </a:p>
        </p:txBody>
      </p:sp>
      <p:sp>
        <p:nvSpPr>
          <p:cNvPr id="3" name="Content Placeholder 2">
            <a:extLst>
              <a:ext uri="{FF2B5EF4-FFF2-40B4-BE49-F238E27FC236}">
                <a16:creationId xmlns:a16="http://schemas.microsoft.com/office/drawing/2014/main" id="{DD3CA1B2-697D-BE7A-A8AF-E05B625F4429}"/>
              </a:ext>
            </a:extLst>
          </p:cNvPr>
          <p:cNvSpPr>
            <a:spLocks noGrp="1"/>
          </p:cNvSpPr>
          <p:nvPr>
            <p:ph idx="1"/>
          </p:nvPr>
        </p:nvSpPr>
        <p:spPr/>
        <p:txBody>
          <a:bodyPr>
            <a:normAutofit/>
          </a:bodyPr>
          <a:lstStyle/>
          <a:p>
            <a:pPr marL="0" indent="0">
              <a:buNone/>
            </a:pPr>
            <a:r>
              <a:rPr lang="en-US" dirty="0"/>
              <a:t>Typical writing cycle, repeated many times: </a:t>
            </a:r>
          </a:p>
          <a:p>
            <a:pPr marL="0" indent="0">
              <a:buNone/>
            </a:pPr>
            <a:endParaRPr lang="en-US" dirty="0"/>
          </a:p>
          <a:p>
            <a:pPr marL="971550" lvl="1" indent="-514350">
              <a:buFont typeface="+mj-lt"/>
              <a:buAutoNum type="arabicPeriod"/>
            </a:pPr>
            <a:r>
              <a:rPr lang="en-US" dirty="0"/>
              <a:t>You caress a beautiful perfect idea floating in your imagination, and you want to put in on paper</a:t>
            </a:r>
          </a:p>
          <a:p>
            <a:pPr marL="971550" lvl="1" indent="-514350">
              <a:buFont typeface="+mj-lt"/>
              <a:buAutoNum type="arabicPeriod"/>
            </a:pPr>
            <a:r>
              <a:rPr lang="en-US" dirty="0"/>
              <a:t>You summon your courage and write 5 lines. Hurrah you have put it down! </a:t>
            </a:r>
          </a:p>
          <a:p>
            <a:pPr marL="971550" lvl="1" indent="-514350">
              <a:buFont typeface="+mj-lt"/>
              <a:buAutoNum type="arabicPeriod"/>
            </a:pPr>
            <a:r>
              <a:rPr lang="en-US" dirty="0"/>
              <a:t>You celebrate in your own manner….feasting…dancing….</a:t>
            </a:r>
          </a:p>
          <a:p>
            <a:pPr marL="971550" lvl="1" indent="-514350">
              <a:buFont typeface="+mj-lt"/>
              <a:buAutoNum type="arabicPeriod"/>
            </a:pPr>
            <a:r>
              <a:rPr lang="en-US" dirty="0"/>
              <a:t>You return happily to look at what you wrote. </a:t>
            </a:r>
            <a:br>
              <a:rPr lang="en-US" dirty="0"/>
            </a:br>
            <a:r>
              <a:rPr lang="en-US" dirty="0"/>
              <a:t>With horror, you find that it does not say what you hoped it would say.</a:t>
            </a:r>
            <a:br>
              <a:rPr lang="en-US" dirty="0"/>
            </a:br>
            <a:r>
              <a:rPr lang="en-US" dirty="0"/>
              <a:t>It is vague and doesn’t make sense </a:t>
            </a:r>
          </a:p>
          <a:p>
            <a:pPr marL="971550" lvl="1" indent="-514350">
              <a:buFont typeface="+mj-lt"/>
              <a:buAutoNum type="arabicPeriod"/>
            </a:pPr>
            <a:r>
              <a:rPr lang="en-US" dirty="0"/>
              <a:t>Painful rewriting</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96254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385F7-B905-5597-6804-F11E74BD89B2}"/>
              </a:ext>
            </a:extLst>
          </p:cNvPr>
          <p:cNvSpPr>
            <a:spLocks noGrp="1"/>
          </p:cNvSpPr>
          <p:nvPr>
            <p:ph type="title"/>
          </p:nvPr>
        </p:nvSpPr>
        <p:spPr/>
        <p:txBody>
          <a:bodyPr/>
          <a:lstStyle/>
          <a:p>
            <a:r>
              <a:rPr lang="en-US" dirty="0"/>
              <a:t>Tone and Style </a:t>
            </a:r>
          </a:p>
        </p:txBody>
      </p:sp>
      <p:sp>
        <p:nvSpPr>
          <p:cNvPr id="3" name="Content Placeholder 2">
            <a:extLst>
              <a:ext uri="{FF2B5EF4-FFF2-40B4-BE49-F238E27FC236}">
                <a16:creationId xmlns:a16="http://schemas.microsoft.com/office/drawing/2014/main" id="{EC64CD2F-7A0C-063D-01CE-AABEF4545450}"/>
              </a:ext>
            </a:extLst>
          </p:cNvPr>
          <p:cNvSpPr>
            <a:spLocks noGrp="1"/>
          </p:cNvSpPr>
          <p:nvPr>
            <p:ph idx="1"/>
          </p:nvPr>
        </p:nvSpPr>
        <p:spPr>
          <a:xfrm>
            <a:off x="838200" y="1478784"/>
            <a:ext cx="10515600" cy="4351338"/>
          </a:xfrm>
        </p:spPr>
        <p:txBody>
          <a:bodyPr>
            <a:normAutofit fontScale="85000" lnSpcReduction="10000"/>
          </a:bodyPr>
          <a:lstStyle/>
          <a:p>
            <a:pPr marL="0" indent="0">
              <a:buNone/>
            </a:pPr>
            <a:r>
              <a:rPr lang="en-US" dirty="0"/>
              <a:t>Plain and simple. Avoid long words unless you really need them. </a:t>
            </a:r>
          </a:p>
          <a:p>
            <a:pPr marL="0" indent="0">
              <a:buNone/>
            </a:pPr>
            <a:r>
              <a:rPr lang="en-US" b="1" dirty="0"/>
              <a:t>Keep technical vocabulary consistent</a:t>
            </a:r>
            <a:r>
              <a:rPr lang="en-US" dirty="0"/>
              <a:t>.</a:t>
            </a:r>
          </a:p>
          <a:p>
            <a:pPr marL="0" indent="0">
              <a:buNone/>
            </a:pPr>
            <a:r>
              <a:rPr lang="en-US" dirty="0"/>
              <a:t>Too-long words do not show you are clever, but seem insecure and pompous.</a:t>
            </a:r>
          </a:p>
          <a:p>
            <a:pPr marL="0" indent="0">
              <a:buNone/>
            </a:pPr>
            <a:r>
              <a:rPr lang="en-US" dirty="0"/>
              <a:t>Use simple words. Get the ideas in the right order, even within sentences.</a:t>
            </a:r>
          </a:p>
          <a:p>
            <a:pPr marL="0" indent="0">
              <a:buNone/>
            </a:pPr>
            <a:r>
              <a:rPr lang="en-US" dirty="0"/>
              <a:t>Consider:</a:t>
            </a:r>
          </a:p>
          <a:p>
            <a:pPr marL="0" indent="0">
              <a:buNone/>
            </a:pPr>
            <a:r>
              <a:rPr lang="en-US" dirty="0"/>
              <a:t>“Passengers are requested to refrain from standing up until after the captain and crew have extinguished the set-belt signs when the aircraft has landed”</a:t>
            </a:r>
          </a:p>
          <a:p>
            <a:pPr marL="0" indent="0">
              <a:buNone/>
            </a:pPr>
            <a:r>
              <a:rPr lang="en-US" dirty="0"/>
              <a:t>“Stay sitting down after the plane lands until the seat-belt signs are turned off”</a:t>
            </a:r>
          </a:p>
          <a:p>
            <a:pPr marL="0" indent="0">
              <a:buNone/>
            </a:pPr>
            <a:r>
              <a:rPr lang="en-US" dirty="0"/>
              <a:t>“When the plane lands, please stay sitting down until the seat-belt signs are turned off”</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206249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E8494-01B1-A3BC-C2CD-DAA33FA3AC41}"/>
              </a:ext>
            </a:extLst>
          </p:cNvPr>
          <p:cNvSpPr>
            <a:spLocks noGrp="1"/>
          </p:cNvSpPr>
          <p:nvPr>
            <p:ph type="title"/>
          </p:nvPr>
        </p:nvSpPr>
        <p:spPr/>
        <p:txBody>
          <a:bodyPr/>
          <a:lstStyle/>
          <a:p>
            <a:r>
              <a:rPr lang="en-US" dirty="0"/>
              <a:t>Hint: get a friend to read your text back to you</a:t>
            </a:r>
          </a:p>
        </p:txBody>
      </p:sp>
      <p:sp>
        <p:nvSpPr>
          <p:cNvPr id="3" name="Content Placeholder 2">
            <a:extLst>
              <a:ext uri="{FF2B5EF4-FFF2-40B4-BE49-F238E27FC236}">
                <a16:creationId xmlns:a16="http://schemas.microsoft.com/office/drawing/2014/main" id="{D6964C94-8127-2B6F-B8F2-005981CD08E1}"/>
              </a:ext>
            </a:extLst>
          </p:cNvPr>
          <p:cNvSpPr>
            <a:spLocks noGrp="1"/>
          </p:cNvSpPr>
          <p:nvPr>
            <p:ph idx="1"/>
          </p:nvPr>
        </p:nvSpPr>
        <p:spPr/>
        <p:txBody>
          <a:bodyPr>
            <a:normAutofit fontScale="92500" lnSpcReduction="20000"/>
          </a:bodyPr>
          <a:lstStyle/>
          <a:p>
            <a:pPr marL="0" indent="0">
              <a:buNone/>
            </a:pPr>
            <a:r>
              <a:rPr lang="en-US" dirty="0"/>
              <a:t>You are an expert on recognizing good writing, because you have spent thousands of hours reading. </a:t>
            </a:r>
          </a:p>
          <a:p>
            <a:pPr marL="0" indent="0">
              <a:buNone/>
            </a:pPr>
            <a:endParaRPr lang="en-US" dirty="0"/>
          </a:p>
          <a:p>
            <a:pPr marL="0" indent="0">
              <a:buNone/>
            </a:pPr>
            <a:r>
              <a:rPr lang="en-US" dirty="0"/>
              <a:t>Often it helps to just listen.  </a:t>
            </a:r>
          </a:p>
          <a:p>
            <a:pPr marL="0" indent="0">
              <a:buNone/>
            </a:pPr>
            <a:endParaRPr lang="en-US" dirty="0"/>
          </a:p>
          <a:p>
            <a:pPr marL="0" indent="0">
              <a:buNone/>
            </a:pPr>
            <a:r>
              <a:rPr lang="en-US" dirty="0"/>
              <a:t>Get a friend to read your writing back to you. You will hear if you are just writing notes to yourself, or if it is too informal, or if you are going gab gab gab …</a:t>
            </a:r>
          </a:p>
          <a:p>
            <a:pPr marL="0" indent="0">
              <a:buNone/>
            </a:pPr>
            <a:endParaRPr lang="en-US" dirty="0"/>
          </a:p>
          <a:p>
            <a:pPr marL="0" indent="0">
              <a:buNone/>
            </a:pPr>
            <a:r>
              <a:rPr lang="en-US" dirty="0"/>
              <a:t>Reading students reports back to them is my </a:t>
            </a:r>
            <a:r>
              <a:rPr lang="en-US" dirty="0" err="1"/>
              <a:t>favourite</a:t>
            </a:r>
            <a:r>
              <a:rPr lang="en-US" dirty="0"/>
              <a:t> part of teaching as I watch them roll on the floor in agony as they listen. But then their writing really improves  </a:t>
            </a:r>
          </a:p>
        </p:txBody>
      </p:sp>
    </p:spTree>
    <p:extLst>
      <p:ext uri="{BB962C8B-B14F-4D97-AF65-F5344CB8AC3E}">
        <p14:creationId xmlns:p14="http://schemas.microsoft.com/office/powerpoint/2010/main" val="1773407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F43B2-0918-63B2-5B16-3B1FA3E74125}"/>
              </a:ext>
            </a:extLst>
          </p:cNvPr>
          <p:cNvSpPr>
            <a:spLocks noGrp="1"/>
          </p:cNvSpPr>
          <p:nvPr>
            <p:ph type="title"/>
          </p:nvPr>
        </p:nvSpPr>
        <p:spPr/>
        <p:txBody>
          <a:bodyPr/>
          <a:lstStyle/>
          <a:p>
            <a:r>
              <a:rPr lang="en-US" dirty="0"/>
              <a:t>Very, especially, clearly, obviously, however, thus, nevertheless, it is clear that, incredibly</a:t>
            </a:r>
          </a:p>
        </p:txBody>
      </p:sp>
      <p:sp>
        <p:nvSpPr>
          <p:cNvPr id="3" name="Content Placeholder 2">
            <a:extLst>
              <a:ext uri="{FF2B5EF4-FFF2-40B4-BE49-F238E27FC236}">
                <a16:creationId xmlns:a16="http://schemas.microsoft.com/office/drawing/2014/main" id="{52AD62EC-975A-ADA0-DF84-39C18DD60A02}"/>
              </a:ext>
            </a:extLst>
          </p:cNvPr>
          <p:cNvSpPr>
            <a:spLocks noGrp="1"/>
          </p:cNvSpPr>
          <p:nvPr>
            <p:ph idx="1"/>
          </p:nvPr>
        </p:nvSpPr>
        <p:spPr/>
        <p:txBody>
          <a:bodyPr>
            <a:normAutofit lnSpcReduction="10000"/>
          </a:bodyPr>
          <a:lstStyle/>
          <a:p>
            <a:pPr marL="0" indent="0">
              <a:buNone/>
            </a:pPr>
            <a:r>
              <a:rPr lang="en-US" dirty="0"/>
              <a:t>Avoid intensifiers like ‘very’.  They make your words weak not strong. </a:t>
            </a:r>
          </a:p>
          <a:p>
            <a:pPr marL="0" indent="0">
              <a:buNone/>
            </a:pPr>
            <a:endParaRPr lang="en-US" dirty="0"/>
          </a:p>
          <a:p>
            <a:pPr marL="0" indent="0">
              <a:buNone/>
            </a:pPr>
            <a:r>
              <a:rPr lang="en-US" dirty="0"/>
              <a:t>Avoid too many weakening qualifiers like: ‘to some extent’, ‘partly’, ‘sometimes’, ‘typically’, ‘probably’, ‘maybe’, ‘-</a:t>
            </a:r>
            <a:r>
              <a:rPr lang="en-US" dirty="0" err="1"/>
              <a:t>ish</a:t>
            </a:r>
            <a:r>
              <a:rPr lang="en-US" dirty="0"/>
              <a:t>’, ‘might be’, </a:t>
            </a:r>
            <a:br>
              <a:rPr lang="en-US" dirty="0"/>
            </a:br>
            <a:r>
              <a:rPr lang="en-US" dirty="0"/>
              <a:t>‘can be’</a:t>
            </a:r>
          </a:p>
          <a:p>
            <a:pPr marL="0" indent="0">
              <a:buNone/>
            </a:pPr>
            <a:r>
              <a:rPr lang="en-US" dirty="0"/>
              <a:t>At first, write simple definite sentences without any intensifiers or qualifiers. </a:t>
            </a:r>
          </a:p>
          <a:p>
            <a:pPr marL="0" indent="0">
              <a:buNone/>
            </a:pPr>
            <a:r>
              <a:rPr lang="en-US" dirty="0"/>
              <a:t>When you have finished, see if you need to put any of these extra qualifiers in. Try to be more definite: if what you say is true only sometimes, try to say definitely when it is true.</a:t>
            </a:r>
          </a:p>
        </p:txBody>
      </p:sp>
    </p:spTree>
    <p:extLst>
      <p:ext uri="{BB962C8B-B14F-4D97-AF65-F5344CB8AC3E}">
        <p14:creationId xmlns:p14="http://schemas.microsoft.com/office/powerpoint/2010/main" val="1227671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3FFF1-DE38-FBF4-67B1-9E9082CA9FFC}"/>
              </a:ext>
            </a:extLst>
          </p:cNvPr>
          <p:cNvSpPr>
            <a:spLocks noGrp="1"/>
          </p:cNvSpPr>
          <p:nvPr>
            <p:ph type="title"/>
          </p:nvPr>
        </p:nvSpPr>
        <p:spPr/>
        <p:txBody>
          <a:bodyPr/>
          <a:lstStyle/>
          <a:p>
            <a:r>
              <a:rPr lang="en-US" dirty="0"/>
              <a:t>How does text grow? </a:t>
            </a:r>
          </a:p>
        </p:txBody>
      </p:sp>
      <p:sp>
        <p:nvSpPr>
          <p:cNvPr id="3" name="Content Placeholder 2">
            <a:extLst>
              <a:ext uri="{FF2B5EF4-FFF2-40B4-BE49-F238E27FC236}">
                <a16:creationId xmlns:a16="http://schemas.microsoft.com/office/drawing/2014/main" id="{4540C87F-863E-CF99-F559-84A888251611}"/>
              </a:ext>
            </a:extLst>
          </p:cNvPr>
          <p:cNvSpPr>
            <a:spLocks noGrp="1"/>
          </p:cNvSpPr>
          <p:nvPr>
            <p:ph idx="1"/>
          </p:nvPr>
        </p:nvSpPr>
        <p:spPr/>
        <p:txBody>
          <a:bodyPr/>
          <a:lstStyle/>
          <a:p>
            <a:pPr marL="0" indent="0">
              <a:buNone/>
            </a:pPr>
            <a:r>
              <a:rPr lang="en-US" dirty="0"/>
              <a:t>“If the channel is noisy, then message reliability can often be increased by using error correction/detection/erasure codes or other methods of multiple transmission so that the message integrity is better maintained.”</a:t>
            </a:r>
          </a:p>
          <a:p>
            <a:pPr marL="0" indent="0">
              <a:buNone/>
            </a:pPr>
            <a:endParaRPr lang="en-US" dirty="0"/>
          </a:p>
          <a:p>
            <a:pPr marL="0" indent="0">
              <a:buNone/>
            </a:pPr>
            <a:r>
              <a:rPr lang="en-US" dirty="0"/>
              <a:t>What’s wrong? </a:t>
            </a:r>
          </a:p>
        </p:txBody>
      </p:sp>
    </p:spTree>
    <p:extLst>
      <p:ext uri="{BB962C8B-B14F-4D97-AF65-F5344CB8AC3E}">
        <p14:creationId xmlns:p14="http://schemas.microsoft.com/office/powerpoint/2010/main" val="454607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3FFF1-DE38-FBF4-67B1-9E9082CA9FFC}"/>
              </a:ext>
            </a:extLst>
          </p:cNvPr>
          <p:cNvSpPr>
            <a:spLocks noGrp="1"/>
          </p:cNvSpPr>
          <p:nvPr>
            <p:ph type="title"/>
          </p:nvPr>
        </p:nvSpPr>
        <p:spPr/>
        <p:txBody>
          <a:bodyPr/>
          <a:lstStyle/>
          <a:p>
            <a:r>
              <a:rPr lang="en-US" dirty="0"/>
              <a:t>How does text grow? </a:t>
            </a:r>
          </a:p>
        </p:txBody>
      </p:sp>
      <p:sp>
        <p:nvSpPr>
          <p:cNvPr id="3" name="Content Placeholder 2">
            <a:extLst>
              <a:ext uri="{FF2B5EF4-FFF2-40B4-BE49-F238E27FC236}">
                <a16:creationId xmlns:a16="http://schemas.microsoft.com/office/drawing/2014/main" id="{4540C87F-863E-CF99-F559-84A888251611}"/>
              </a:ext>
            </a:extLst>
          </p:cNvPr>
          <p:cNvSpPr>
            <a:spLocks noGrp="1"/>
          </p:cNvSpPr>
          <p:nvPr>
            <p:ph idx="1"/>
          </p:nvPr>
        </p:nvSpPr>
        <p:spPr>
          <a:xfrm>
            <a:off x="838200" y="1489294"/>
            <a:ext cx="10515600" cy="5079672"/>
          </a:xfrm>
        </p:spPr>
        <p:txBody>
          <a:bodyPr>
            <a:normAutofit fontScale="85000" lnSpcReduction="10000"/>
          </a:bodyPr>
          <a:lstStyle/>
          <a:p>
            <a:pPr marL="0" indent="0">
              <a:buNone/>
            </a:pPr>
            <a:r>
              <a:rPr lang="en-US" dirty="0"/>
              <a:t>“If the channel is noisy, then message reliability can often be increased by using error correction or detection or erasure codes or other methods of multiple transmission so that noise can be eliminated by retransmission or reconstruction”</a:t>
            </a:r>
          </a:p>
          <a:p>
            <a:pPr marL="0" indent="0">
              <a:buNone/>
            </a:pPr>
            <a:r>
              <a:rPr lang="en-US" dirty="0"/>
              <a:t>Too many ideas in one sentence, all squashed together so that they are not fully explained. </a:t>
            </a:r>
          </a:p>
          <a:p>
            <a:pPr marL="0" indent="0">
              <a:buNone/>
            </a:pPr>
            <a:r>
              <a:rPr lang="en-US" dirty="0"/>
              <a:t>First, split it up into simple definite sentences and phrases. You can even number the ideas: </a:t>
            </a:r>
          </a:p>
          <a:p>
            <a:pPr marL="0" indent="0">
              <a:buNone/>
            </a:pPr>
            <a:r>
              <a:rPr lang="en-US" dirty="0"/>
              <a:t>(1) If the channel is noisy, messages are not received reliably. (2 new)There are three ways to increase reliability. (3)Error correction codes… (4) Error detection codes…with retransmission (5) Erasure codes…reconstruction</a:t>
            </a:r>
          </a:p>
          <a:p>
            <a:pPr marL="0" indent="0">
              <a:buNone/>
            </a:pPr>
            <a:r>
              <a:rPr lang="en-US" dirty="0"/>
              <a:t>Ah – the problem was there were 5 different ideas in the sentence. Depending on the level of detail you want, you either need 5 sentences (even 3 paragraphs, one for each type of coding), or else you need to write a summary sentence: “The reliability of a noisy channel can be increased by appropriate coding.”</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470290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8DB4E-5D28-6FCB-6E8E-1E44B2B082FC}"/>
              </a:ext>
            </a:extLst>
          </p:cNvPr>
          <p:cNvSpPr>
            <a:spLocks noGrp="1"/>
          </p:cNvSpPr>
          <p:nvPr>
            <p:ph type="title"/>
          </p:nvPr>
        </p:nvSpPr>
        <p:spPr/>
        <p:txBody>
          <a:bodyPr/>
          <a:lstStyle/>
          <a:p>
            <a:r>
              <a:rPr lang="en-US" dirty="0"/>
              <a:t>Short sentences. Purposeful paragraphs.</a:t>
            </a:r>
          </a:p>
        </p:txBody>
      </p:sp>
      <p:sp>
        <p:nvSpPr>
          <p:cNvPr id="3" name="Content Placeholder 2">
            <a:extLst>
              <a:ext uri="{FF2B5EF4-FFF2-40B4-BE49-F238E27FC236}">
                <a16:creationId xmlns:a16="http://schemas.microsoft.com/office/drawing/2014/main" id="{284111FE-A2B6-EE1F-2617-32A75BF2233C}"/>
              </a:ext>
            </a:extLst>
          </p:cNvPr>
          <p:cNvSpPr>
            <a:spLocks noGrp="1"/>
          </p:cNvSpPr>
          <p:nvPr>
            <p:ph idx="1"/>
          </p:nvPr>
        </p:nvSpPr>
        <p:spPr/>
        <p:txBody>
          <a:bodyPr>
            <a:normAutofit fontScale="92500" lnSpcReduction="10000"/>
          </a:bodyPr>
          <a:lstStyle/>
          <a:p>
            <a:pPr marL="0" indent="0">
              <a:lnSpc>
                <a:spcPct val="120000"/>
              </a:lnSpc>
              <a:buNone/>
            </a:pPr>
            <a:r>
              <a:rPr lang="en-US" dirty="0"/>
              <a:t>In your early drafts, keep sentences short and definite. </a:t>
            </a:r>
          </a:p>
          <a:p>
            <a:pPr marL="0" indent="0">
              <a:lnSpc>
                <a:spcPct val="120000"/>
              </a:lnSpc>
              <a:buNone/>
            </a:pPr>
            <a:r>
              <a:rPr lang="en-US" dirty="0"/>
              <a:t>The full stop . should be your </a:t>
            </a:r>
            <a:r>
              <a:rPr lang="en-US" dirty="0" err="1"/>
              <a:t>favourite</a:t>
            </a:r>
            <a:r>
              <a:rPr lang="en-US" dirty="0"/>
              <a:t> punctuation mark. </a:t>
            </a:r>
          </a:p>
          <a:p>
            <a:pPr marL="0" indent="0">
              <a:lnSpc>
                <a:spcPct val="120000"/>
              </a:lnSpc>
              <a:buNone/>
            </a:pPr>
            <a:r>
              <a:rPr lang="en-US" dirty="0"/>
              <a:t>One idea in each sentence.  </a:t>
            </a:r>
          </a:p>
          <a:p>
            <a:pPr marL="0" indent="0">
              <a:lnSpc>
                <a:spcPct val="120000"/>
              </a:lnSpc>
              <a:buNone/>
            </a:pPr>
            <a:r>
              <a:rPr lang="en-US" dirty="0"/>
              <a:t>If a sentence has two ideas, split it into two sentences. </a:t>
            </a:r>
            <a:br>
              <a:rPr lang="en-US" dirty="0"/>
            </a:br>
            <a:r>
              <a:rPr lang="en-US" dirty="0"/>
              <a:t>Then arrange your simple sentences into the most natural order. </a:t>
            </a:r>
          </a:p>
          <a:p>
            <a:pPr marL="0" indent="0">
              <a:lnSpc>
                <a:spcPct val="120000"/>
              </a:lnSpc>
              <a:buNone/>
            </a:pPr>
            <a:r>
              <a:rPr lang="en-US" dirty="0"/>
              <a:t>One purpose per paragraph. Try to put the main idea of the paragraph at the beginning (not always possible). </a:t>
            </a:r>
          </a:p>
          <a:p>
            <a:pPr marL="0" indent="0">
              <a:lnSpc>
                <a:spcPct val="120000"/>
              </a:lnSpc>
              <a:buNone/>
            </a:pPr>
            <a:r>
              <a:rPr lang="en-US" dirty="0"/>
              <a:t>For each paragraph, you should be able to say what its purpose is.</a:t>
            </a:r>
          </a:p>
        </p:txBody>
      </p:sp>
    </p:spTree>
    <p:extLst>
      <p:ext uri="{BB962C8B-B14F-4D97-AF65-F5344CB8AC3E}">
        <p14:creationId xmlns:p14="http://schemas.microsoft.com/office/powerpoint/2010/main" val="10714305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ACD12-C5EA-7733-F288-785CEC1761BE}"/>
              </a:ext>
            </a:extLst>
          </p:cNvPr>
          <p:cNvSpPr>
            <a:spLocks noGrp="1"/>
          </p:cNvSpPr>
          <p:nvPr>
            <p:ph type="title"/>
          </p:nvPr>
        </p:nvSpPr>
        <p:spPr/>
        <p:txBody>
          <a:bodyPr/>
          <a:lstStyle/>
          <a:p>
            <a:r>
              <a:rPr lang="en-US" dirty="0"/>
              <a:t>Presenting information in the right order</a:t>
            </a:r>
          </a:p>
        </p:txBody>
      </p:sp>
      <p:sp>
        <p:nvSpPr>
          <p:cNvPr id="3" name="Content Placeholder 2">
            <a:extLst>
              <a:ext uri="{FF2B5EF4-FFF2-40B4-BE49-F238E27FC236}">
                <a16:creationId xmlns:a16="http://schemas.microsoft.com/office/drawing/2014/main" id="{2074ABBA-A691-9244-1B10-7258E93456CA}"/>
              </a:ext>
            </a:extLst>
          </p:cNvPr>
          <p:cNvSpPr>
            <a:spLocks noGrp="1"/>
          </p:cNvSpPr>
          <p:nvPr>
            <p:ph idx="1"/>
          </p:nvPr>
        </p:nvSpPr>
        <p:spPr/>
        <p:txBody>
          <a:bodyPr>
            <a:normAutofit fontScale="92500" lnSpcReduction="20000"/>
          </a:bodyPr>
          <a:lstStyle/>
          <a:p>
            <a:pPr marL="0" indent="0">
              <a:lnSpc>
                <a:spcPct val="120000"/>
              </a:lnSpc>
              <a:buNone/>
            </a:pPr>
            <a:r>
              <a:rPr lang="en-US" dirty="0"/>
              <a:t>If you present information in unnatural order, your writing gets tangled up. </a:t>
            </a:r>
          </a:p>
          <a:p>
            <a:pPr marL="0" indent="0">
              <a:lnSpc>
                <a:spcPct val="120000"/>
              </a:lnSpc>
              <a:buNone/>
            </a:pPr>
            <a:r>
              <a:rPr lang="en-US" dirty="0"/>
              <a:t>When you want to explain something complicated, try writing down </a:t>
            </a:r>
            <a:r>
              <a:rPr lang="en-US" b="1" dirty="0"/>
              <a:t>SHORT </a:t>
            </a:r>
            <a:r>
              <a:rPr lang="en-US" dirty="0"/>
              <a:t>sentences, each with one piece of the information you want to say</a:t>
            </a:r>
          </a:p>
          <a:p>
            <a:pPr marL="0" indent="0">
              <a:lnSpc>
                <a:spcPct val="120000"/>
              </a:lnSpc>
              <a:buNone/>
            </a:pPr>
            <a:r>
              <a:rPr lang="en-US" b="1" dirty="0"/>
              <a:t>Then </a:t>
            </a:r>
            <a:r>
              <a:rPr lang="en-US" dirty="0"/>
              <a:t>try to find a </a:t>
            </a:r>
            <a:r>
              <a:rPr lang="en-US" b="1" dirty="0"/>
              <a:t>natural ordering of these short sentences. </a:t>
            </a:r>
          </a:p>
          <a:p>
            <a:pPr marL="0" indent="0">
              <a:lnSpc>
                <a:spcPct val="120000"/>
              </a:lnSpc>
              <a:buNone/>
            </a:pPr>
            <a:r>
              <a:rPr lang="en-US" dirty="0"/>
              <a:t>A natural ordering of ideas makes your writing simpler and easier to read.</a:t>
            </a:r>
          </a:p>
          <a:p>
            <a:pPr marL="0" indent="0">
              <a:lnSpc>
                <a:spcPct val="120000"/>
              </a:lnSpc>
              <a:buNone/>
            </a:pPr>
            <a:r>
              <a:rPr lang="en-US" dirty="0"/>
              <a:t>Finally make your words more elegant using this ordering. </a:t>
            </a:r>
            <a:br>
              <a:rPr lang="en-US" dirty="0"/>
            </a:br>
            <a:r>
              <a:rPr lang="en-US" dirty="0"/>
              <a:t>You won’t need to change much. </a:t>
            </a:r>
          </a:p>
        </p:txBody>
      </p:sp>
    </p:spTree>
    <p:extLst>
      <p:ext uri="{BB962C8B-B14F-4D97-AF65-F5344CB8AC3E}">
        <p14:creationId xmlns:p14="http://schemas.microsoft.com/office/powerpoint/2010/main" val="1322813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ep 5 Dry the blades in open air.">
            <a:extLst>
              <a:ext uri="{FF2B5EF4-FFF2-40B4-BE49-F238E27FC236}">
                <a16:creationId xmlns:a16="http://schemas.microsoft.com/office/drawing/2014/main" id="{F4805AEE-2D1F-11FC-DB9C-C69C0F2671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0539" y="3224487"/>
            <a:ext cx="4860744" cy="27375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9158843-A5BB-91E3-D689-2BAAE371F0CF}"/>
              </a:ext>
            </a:extLst>
          </p:cNvPr>
          <p:cNvSpPr txBox="1"/>
          <p:nvPr/>
        </p:nvSpPr>
        <p:spPr>
          <a:xfrm>
            <a:off x="7305968" y="6051091"/>
            <a:ext cx="4665315" cy="230832"/>
          </a:xfrm>
          <a:prstGeom prst="rect">
            <a:avLst/>
          </a:prstGeom>
          <a:noFill/>
        </p:spPr>
        <p:txBody>
          <a:bodyPr wrap="square" rtlCol="0">
            <a:spAutoFit/>
          </a:bodyPr>
          <a:lstStyle/>
          <a:p>
            <a:r>
              <a:rPr lang="en-US" sz="900" dirty="0"/>
              <a:t>Source: https://</a:t>
            </a:r>
            <a:r>
              <a:rPr lang="en-US" sz="900" dirty="0" err="1"/>
              <a:t>www.wikihow.com</a:t>
            </a:r>
            <a:r>
              <a:rPr lang="en-US" sz="900" dirty="0"/>
              <a:t>/Use-Kitchen-Scissors</a:t>
            </a:r>
          </a:p>
        </p:txBody>
      </p:sp>
      <p:sp>
        <p:nvSpPr>
          <p:cNvPr id="2" name="TextBox 1">
            <a:extLst>
              <a:ext uri="{FF2B5EF4-FFF2-40B4-BE49-F238E27FC236}">
                <a16:creationId xmlns:a16="http://schemas.microsoft.com/office/drawing/2014/main" id="{E823716B-52AB-4875-D3B9-F298C0E25759}"/>
              </a:ext>
            </a:extLst>
          </p:cNvPr>
          <p:cNvSpPr txBox="1"/>
          <p:nvPr/>
        </p:nvSpPr>
        <p:spPr>
          <a:xfrm>
            <a:off x="1923393" y="345244"/>
            <a:ext cx="7715232" cy="461665"/>
          </a:xfrm>
          <a:prstGeom prst="rect">
            <a:avLst/>
          </a:prstGeom>
          <a:noFill/>
        </p:spPr>
        <p:txBody>
          <a:bodyPr wrap="square" rtlCol="0">
            <a:spAutoFit/>
          </a:bodyPr>
          <a:lstStyle/>
          <a:p>
            <a:r>
              <a:rPr lang="en-US" sz="2400" dirty="0"/>
              <a:t>Class exercise: explain how to cut paper using scissors</a:t>
            </a:r>
          </a:p>
        </p:txBody>
      </p:sp>
      <p:sp>
        <p:nvSpPr>
          <p:cNvPr id="3" name="TextBox 2">
            <a:extLst>
              <a:ext uri="{FF2B5EF4-FFF2-40B4-BE49-F238E27FC236}">
                <a16:creationId xmlns:a16="http://schemas.microsoft.com/office/drawing/2014/main" id="{33C039CF-356A-B2B0-9902-45C0292D405D}"/>
              </a:ext>
            </a:extLst>
          </p:cNvPr>
          <p:cNvSpPr txBox="1"/>
          <p:nvPr/>
        </p:nvSpPr>
        <p:spPr>
          <a:xfrm>
            <a:off x="536028" y="1933903"/>
            <a:ext cx="6201103" cy="3693319"/>
          </a:xfrm>
          <a:prstGeom prst="rect">
            <a:avLst/>
          </a:prstGeom>
          <a:noFill/>
        </p:spPr>
        <p:txBody>
          <a:bodyPr wrap="square" rtlCol="0">
            <a:spAutoFit/>
          </a:bodyPr>
          <a:lstStyle/>
          <a:p>
            <a:pPr marL="342900" indent="-342900">
              <a:buFont typeface="+mj-lt"/>
              <a:buAutoNum type="arabicPeriod"/>
            </a:pPr>
            <a:r>
              <a:rPr lang="en-US" dirty="0"/>
              <a:t>Diagram with labels. Choose a word to describe each part of the scissors</a:t>
            </a:r>
            <a:br>
              <a:rPr lang="en-US" dirty="0"/>
            </a:br>
            <a:endParaRPr lang="en-US" dirty="0"/>
          </a:p>
          <a:p>
            <a:pPr marL="342900" indent="-342900">
              <a:buFont typeface="+mj-lt"/>
              <a:buAutoNum type="arabicPeriod"/>
            </a:pPr>
            <a:r>
              <a:rPr lang="en-US" dirty="0"/>
              <a:t>Imagine cutting paper with scissors. Write down simple definite sentences that describe different parts of the process</a:t>
            </a:r>
            <a:br>
              <a:rPr lang="en-US" dirty="0"/>
            </a:br>
            <a:endParaRPr lang="en-US" dirty="0"/>
          </a:p>
          <a:p>
            <a:pPr marL="342900" indent="-342900">
              <a:buFont typeface="+mj-lt"/>
              <a:buAutoNum type="arabicPeriod"/>
            </a:pPr>
            <a:r>
              <a:rPr lang="en-US" dirty="0"/>
              <a:t>Arrange these sentences into natural groups, each group in a natural order</a:t>
            </a:r>
            <a:br>
              <a:rPr lang="en-US" dirty="0"/>
            </a:br>
            <a:endParaRPr lang="en-US" dirty="0"/>
          </a:p>
          <a:p>
            <a:pPr marL="342900" indent="-342900">
              <a:buFont typeface="+mj-lt"/>
              <a:buAutoNum type="arabicPeriod"/>
            </a:pPr>
            <a:r>
              <a:rPr lang="en-US" dirty="0"/>
              <a:t>Fill in what is missing, add text as necessary to indicate parts of the process, and to fill in missing steps and connections</a:t>
            </a:r>
          </a:p>
        </p:txBody>
      </p:sp>
    </p:spTree>
    <p:extLst>
      <p:ext uri="{BB962C8B-B14F-4D97-AF65-F5344CB8AC3E}">
        <p14:creationId xmlns:p14="http://schemas.microsoft.com/office/powerpoint/2010/main" val="2433909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F855C-A4E0-6DFD-2C0B-B8D762F3960C}"/>
              </a:ext>
            </a:extLst>
          </p:cNvPr>
          <p:cNvSpPr>
            <a:spLocks noGrp="1"/>
          </p:cNvSpPr>
          <p:nvPr>
            <p:ph type="title"/>
          </p:nvPr>
        </p:nvSpPr>
        <p:spPr/>
        <p:txBody>
          <a:bodyPr/>
          <a:lstStyle/>
          <a:p>
            <a:r>
              <a:rPr lang="en-US" dirty="0"/>
              <a:t>Further reading</a:t>
            </a:r>
          </a:p>
        </p:txBody>
      </p:sp>
      <p:sp>
        <p:nvSpPr>
          <p:cNvPr id="3" name="Content Placeholder 2">
            <a:extLst>
              <a:ext uri="{FF2B5EF4-FFF2-40B4-BE49-F238E27FC236}">
                <a16:creationId xmlns:a16="http://schemas.microsoft.com/office/drawing/2014/main" id="{751E12B7-F9E1-038B-E5FA-08BE187A7E91}"/>
              </a:ext>
            </a:extLst>
          </p:cNvPr>
          <p:cNvSpPr>
            <a:spLocks noGrp="1"/>
          </p:cNvSpPr>
          <p:nvPr>
            <p:ph idx="1"/>
          </p:nvPr>
        </p:nvSpPr>
        <p:spPr/>
        <p:txBody>
          <a:bodyPr>
            <a:normAutofit fontScale="92500" lnSpcReduction="10000"/>
          </a:bodyPr>
          <a:lstStyle/>
          <a:p>
            <a:pPr marL="0" indent="0">
              <a:buNone/>
            </a:pPr>
            <a:r>
              <a:rPr lang="en-US" dirty="0"/>
              <a:t>Punctuation is easier than coding, and learning to punctuate will increase your lifetime earnings. </a:t>
            </a:r>
          </a:p>
          <a:p>
            <a:pPr marL="0" indent="0">
              <a:buNone/>
            </a:pPr>
            <a:r>
              <a:rPr lang="en-US" dirty="0"/>
              <a:t>“Eats, Shoots, and Leaves” by Lynne Truss. </a:t>
            </a:r>
          </a:p>
          <a:p>
            <a:pPr marL="0" indent="0">
              <a:buNone/>
            </a:pPr>
            <a:r>
              <a:rPr lang="en-US" dirty="0"/>
              <a:t>Short cheap book on punctuation. Easy to read. Explains where there is one rule, where there are two equally good rules, and why the rules are there.  </a:t>
            </a:r>
          </a:p>
          <a:p>
            <a:pPr marL="0" indent="0">
              <a:buNone/>
            </a:pPr>
            <a:endParaRPr lang="en-US" dirty="0"/>
          </a:p>
          <a:p>
            <a:pPr marL="0" indent="0">
              <a:buNone/>
            </a:pPr>
            <a:r>
              <a:rPr lang="en-US" dirty="0"/>
              <a:t>“Politics and the English Language” by George Orwell. </a:t>
            </a:r>
          </a:p>
          <a:p>
            <a:pPr marL="0" indent="0">
              <a:buNone/>
            </a:pPr>
            <a:r>
              <a:rPr lang="en-US" sz="1200" dirty="0">
                <a:hlinkClick r:id="rId2"/>
              </a:rPr>
              <a:t>https://</a:t>
            </a:r>
            <a:r>
              <a:rPr lang="en-US" sz="1200" dirty="0" err="1">
                <a:hlinkClick r:id="rId2"/>
              </a:rPr>
              <a:t>www.orwellfoundation.com</a:t>
            </a:r>
            <a:r>
              <a:rPr lang="en-US" sz="1200" dirty="0">
                <a:hlinkClick r:id="rId2"/>
              </a:rPr>
              <a:t>/the-</a:t>
            </a:r>
            <a:r>
              <a:rPr lang="en-US" sz="1200" dirty="0" err="1">
                <a:hlinkClick r:id="rId2"/>
              </a:rPr>
              <a:t>orwell</a:t>
            </a:r>
            <a:r>
              <a:rPr lang="en-US" sz="1200" dirty="0">
                <a:hlinkClick r:id="rId2"/>
              </a:rPr>
              <a:t>-foundation/</a:t>
            </a:r>
            <a:r>
              <a:rPr lang="en-US" sz="1200" dirty="0" err="1">
                <a:hlinkClick r:id="rId2"/>
              </a:rPr>
              <a:t>orwell</a:t>
            </a:r>
            <a:r>
              <a:rPr lang="en-US" sz="1200" dirty="0">
                <a:hlinkClick r:id="rId2"/>
              </a:rPr>
              <a:t>/essays-and-other-works/politics-and-the-</a:t>
            </a:r>
            <a:r>
              <a:rPr lang="en-US" sz="1200" dirty="0" err="1">
                <a:hlinkClick r:id="rId2"/>
              </a:rPr>
              <a:t>english</a:t>
            </a:r>
            <a:r>
              <a:rPr lang="en-US" sz="1200" dirty="0">
                <a:hlinkClick r:id="rId2"/>
              </a:rPr>
              <a:t>-language/</a:t>
            </a:r>
            <a:endParaRPr lang="en-US" sz="1200" dirty="0"/>
          </a:p>
          <a:p>
            <a:pPr marL="0" indent="0">
              <a:buNone/>
            </a:pPr>
            <a:r>
              <a:rPr lang="en-US" dirty="0"/>
              <a:t>This famous essay from 1946 is just as relevant today. It shows that pompous writing will always be with us, and we should guard against it. </a:t>
            </a:r>
          </a:p>
        </p:txBody>
      </p:sp>
    </p:spTree>
    <p:extLst>
      <p:ext uri="{BB962C8B-B14F-4D97-AF65-F5344CB8AC3E}">
        <p14:creationId xmlns:p14="http://schemas.microsoft.com/office/powerpoint/2010/main" val="2021975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6579A-F7B8-1669-3FBC-7C198B31D699}"/>
              </a:ext>
            </a:extLst>
          </p:cNvPr>
          <p:cNvSpPr>
            <a:spLocks noGrp="1"/>
          </p:cNvSpPr>
          <p:nvPr>
            <p:ph type="title"/>
          </p:nvPr>
        </p:nvSpPr>
        <p:spPr/>
        <p:txBody>
          <a:bodyPr/>
          <a:lstStyle/>
          <a:p>
            <a:r>
              <a:rPr lang="en-US" dirty="0"/>
              <a:t>George Orwell on Simplicity</a:t>
            </a:r>
          </a:p>
        </p:txBody>
      </p:sp>
      <p:sp>
        <p:nvSpPr>
          <p:cNvPr id="3" name="Content Placeholder 2">
            <a:extLst>
              <a:ext uri="{FF2B5EF4-FFF2-40B4-BE49-F238E27FC236}">
                <a16:creationId xmlns:a16="http://schemas.microsoft.com/office/drawing/2014/main" id="{188195F1-6900-DDBB-75DA-D14A15913094}"/>
              </a:ext>
            </a:extLst>
          </p:cNvPr>
          <p:cNvSpPr>
            <a:spLocks noGrp="1"/>
          </p:cNvSpPr>
          <p:nvPr>
            <p:ph idx="1"/>
          </p:nvPr>
        </p:nvSpPr>
        <p:spPr>
          <a:xfrm>
            <a:off x="838200" y="1415720"/>
            <a:ext cx="10515600" cy="4911507"/>
          </a:xfrm>
        </p:spPr>
        <p:txBody>
          <a:bodyPr>
            <a:normAutofit/>
          </a:bodyPr>
          <a:lstStyle/>
          <a:p>
            <a:pPr marL="0" indent="0">
              <a:buNone/>
            </a:pPr>
            <a:endParaRPr lang="en-US" dirty="0"/>
          </a:p>
          <a:p>
            <a:pPr marL="0" indent="0">
              <a:buNone/>
            </a:pPr>
            <a:endParaRPr lang="en-US" dirty="0"/>
          </a:p>
          <a:p>
            <a:pPr marL="0" indent="0">
              <a:buNone/>
            </a:pPr>
            <a:r>
              <a:rPr lang="en-US" dirty="0"/>
              <a:t>Consider this passage from the Book of Ecclesiastes:</a:t>
            </a:r>
          </a:p>
          <a:p>
            <a:pPr marL="0" indent="0">
              <a:buNone/>
            </a:pPr>
            <a:endParaRPr lang="en-US" dirty="0"/>
          </a:p>
          <a:p>
            <a:pPr marL="0" indent="0">
              <a:buNone/>
            </a:pPr>
            <a:r>
              <a:rPr lang="en-US" dirty="0"/>
              <a:t>“I returned and saw under the sun, that the race is not to the swift, nor the battle to the strong, neither yet bread to the wise, nor yet riches to men of understanding, nor yet </a:t>
            </a:r>
            <a:r>
              <a:rPr lang="en-US" dirty="0" err="1"/>
              <a:t>favour</a:t>
            </a:r>
            <a:r>
              <a:rPr lang="en-US" dirty="0"/>
              <a:t> to men of skill; but time and chance happens to them all.”</a:t>
            </a:r>
          </a:p>
        </p:txBody>
      </p:sp>
    </p:spTree>
    <p:extLst>
      <p:ext uri="{BB962C8B-B14F-4D97-AF65-F5344CB8AC3E}">
        <p14:creationId xmlns:p14="http://schemas.microsoft.com/office/powerpoint/2010/main" val="3170800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90DA2-DD49-EF70-E254-F31F5ED8D1E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9945F51-20D5-CBD4-FCDD-F4425FDAA3BC}"/>
              </a:ext>
            </a:extLst>
          </p:cNvPr>
          <p:cNvSpPr>
            <a:spLocks noGrp="1"/>
          </p:cNvSpPr>
          <p:nvPr>
            <p:ph idx="1"/>
          </p:nvPr>
        </p:nvSpPr>
        <p:spPr/>
        <p:txBody>
          <a:bodyPr/>
          <a:lstStyle/>
          <a:p>
            <a:pPr marL="0" indent="0">
              <a:buNone/>
            </a:pPr>
            <a:r>
              <a:rPr lang="en-US" dirty="0"/>
              <a:t>If we re-wrote this in a more pompous ‘academic’ style, we might get to:</a:t>
            </a:r>
          </a:p>
          <a:p>
            <a:pPr marL="0" indent="0">
              <a:buNone/>
            </a:pPr>
            <a:endParaRPr lang="en-US" dirty="0"/>
          </a:p>
          <a:p>
            <a:pPr marL="0" indent="0">
              <a:buNone/>
            </a:pPr>
            <a:r>
              <a:rPr lang="en-US" dirty="0"/>
              <a:t>“Objective consideration of contemporary phenomena compels the conclusion that success or failure in competitive activities typically exhibits no tendency to be commensurate with innate capacity, but that a considerable element of the unpredictable must invariably be taken into account.”</a:t>
            </a:r>
          </a:p>
          <a:p>
            <a:pPr marL="0" indent="0">
              <a:buNone/>
            </a:pPr>
            <a:endParaRPr lang="en-US" dirty="0"/>
          </a:p>
        </p:txBody>
      </p:sp>
    </p:spTree>
    <p:extLst>
      <p:ext uri="{BB962C8B-B14F-4D97-AF65-F5344CB8AC3E}">
        <p14:creationId xmlns:p14="http://schemas.microsoft.com/office/powerpoint/2010/main" val="7303844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4610</TotalTime>
  <Words>3021</Words>
  <Application>Microsoft Macintosh PowerPoint</Application>
  <PresentationFormat>Widescreen</PresentationFormat>
  <Paragraphs>246</Paragraphs>
  <Slides>35</Slides>
  <Notes>1</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Aptos Display</vt:lpstr>
      <vt:lpstr>Arial</vt:lpstr>
      <vt:lpstr>Office Theme</vt:lpstr>
      <vt:lpstr>Writing a project report</vt:lpstr>
      <vt:lpstr>PowerPoint Presentation</vt:lpstr>
      <vt:lpstr>Why write?  Writing is thinking</vt:lpstr>
      <vt:lpstr>Always write a story. Your project report is your story.</vt:lpstr>
      <vt:lpstr>A report is like a travel book</vt:lpstr>
      <vt:lpstr>Who is my reader?  </vt:lpstr>
      <vt:lpstr>Selling your paper</vt:lpstr>
      <vt:lpstr>Background research</vt:lpstr>
      <vt:lpstr>The Introduction</vt:lpstr>
      <vt:lpstr>Claims: what have you achieved?</vt:lpstr>
      <vt:lpstr>PowerPoint Presentation</vt:lpstr>
      <vt:lpstr>Structure</vt:lpstr>
      <vt:lpstr>Say everything only once, in the right place</vt:lpstr>
      <vt:lpstr>Technical writing: consistent terminology</vt:lpstr>
      <vt:lpstr>Pseudocode, Equations, Diagrams, and Graphs</vt:lpstr>
      <vt:lpstr>Diagrams</vt:lpstr>
      <vt:lpstr>Equations</vt:lpstr>
      <vt:lpstr>Experiments</vt:lpstr>
      <vt:lpstr>Writing up an experiment</vt:lpstr>
      <vt:lpstr>Keep experiments simple and lightweight</vt:lpstr>
      <vt:lpstr>Plotting </vt:lpstr>
      <vt:lpstr>PowerPoint Presentation</vt:lpstr>
      <vt:lpstr>But but but but … it’s hard for me</vt:lpstr>
      <vt:lpstr>Writing is hard</vt:lpstr>
      <vt:lpstr>Tone and Style </vt:lpstr>
      <vt:lpstr>Hint: get a friend to read your text back to you</vt:lpstr>
      <vt:lpstr>Very, especially, clearly, obviously, however, thus, nevertheless, it is clear that, incredibly</vt:lpstr>
      <vt:lpstr>How does text grow? </vt:lpstr>
      <vt:lpstr>How does text grow? </vt:lpstr>
      <vt:lpstr>Short sentences. Purposeful paragraphs.</vt:lpstr>
      <vt:lpstr>Presenting information in the right order</vt:lpstr>
      <vt:lpstr>PowerPoint Presentation</vt:lpstr>
      <vt:lpstr>Further reading</vt:lpstr>
      <vt:lpstr>George Orwell on Simplicity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a paper</dc:title>
  <dc:creator>Watkins, C.J</dc:creator>
  <cp:lastModifiedBy>Watkins, C.J</cp:lastModifiedBy>
  <cp:revision>22</cp:revision>
  <dcterms:created xsi:type="dcterms:W3CDTF">2024-04-23T09:04:26Z</dcterms:created>
  <dcterms:modified xsi:type="dcterms:W3CDTF">2025-11-05T11:49:22Z</dcterms:modified>
</cp:coreProperties>
</file>